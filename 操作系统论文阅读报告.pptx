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68" r:id="rId2"/>
    <p:sldId id="276" r:id="rId3"/>
    <p:sldId id="280" r:id="rId4"/>
    <p:sldId id="288" r:id="rId5"/>
    <p:sldId id="320" r:id="rId6"/>
    <p:sldId id="281" r:id="rId7"/>
    <p:sldId id="290" r:id="rId8"/>
    <p:sldId id="316" r:id="rId9"/>
    <p:sldId id="315" r:id="rId10"/>
    <p:sldId id="283" r:id="rId11"/>
    <p:sldId id="321" r:id="rId12"/>
    <p:sldId id="324" r:id="rId13"/>
    <p:sldId id="323" r:id="rId14"/>
    <p:sldId id="318" r:id="rId15"/>
    <p:sldId id="319" r:id="rId16"/>
    <p:sldId id="322" r:id="rId17"/>
    <p:sldId id="285" r:id="rId18"/>
    <p:sldId id="277" r:id="rId19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98E0"/>
    <a:srgbClr val="FFC5C5"/>
    <a:srgbClr val="C9E7A7"/>
    <a:srgbClr val="7F7F7F"/>
    <a:srgbClr val="FFFFFF"/>
    <a:srgbClr val="B2B2B2"/>
    <a:srgbClr val="005CA1"/>
    <a:srgbClr val="004A82"/>
    <a:srgbClr val="00355C"/>
    <a:srgbClr val="004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16" autoAdjust="0"/>
    <p:restoredTop sz="70516" autoAdjust="0"/>
  </p:normalViewPr>
  <p:slideViewPr>
    <p:cSldViewPr snapToGrid="0" showGuides="1">
      <p:cViewPr varScale="1">
        <p:scale>
          <a:sx n="48" d="100"/>
          <a:sy n="48" d="100"/>
        </p:scale>
        <p:origin x="120" y="36"/>
      </p:cViewPr>
      <p:guideLst>
        <p:guide orient="horz" pos="2160"/>
        <p:guide pos="3840"/>
      </p:guideLst>
    </p:cSldViewPr>
  </p:slideViewPr>
  <p:outlineViewPr>
    <p:cViewPr>
      <p:scale>
        <a:sx n="100" d="100"/>
        <a:sy n="10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3284" y="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A552A8-ECE7-49AA-8726-BE90DBC11947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8EAD77-486C-432B-9EE9-E6FD5C91EB8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vscode-file://vscode-app/d:/developtools/Microsoft%20VS%20Code/resources/app/out/vs/code/electron-browser/workbench/workbench.html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vscode-file://vscode-app/d:/developtools/Microsoft%20VS%20Code/resources/app/out/vs/code/electron-browser/workbench/workbench.html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vscode-file://vscode-app/d:/developtools/Microsoft%20VS%20Code/resources/app/out/vs/code/electron-browser/workbench/workbench.html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vscode-file://vscode-app/d:/developtools/Microsoft%20VS%20Code/resources/app/out/vs/code/electron-browser/workbench/workbench.html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传统单体SOH预测难以反映整体健康状态，限制了电池组的性能和寿命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pPr algn="l">
              <a:lnSpc>
                <a:spcPct val="150000"/>
              </a:lnSpc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突破传统BMS难以评估电池组整体寿命的瓶颈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通过公开及仿真数据验证模型有效性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为该领域提出解决思路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sz="1200" dirty="0">
                <a:solidFill>
                  <a:srgbClr val="7F7F7F"/>
                </a:solidFill>
              </a:rPr>
              <a:t> 项目研究内容聚焦锂电池组健康状态（SOH）协同预测，围绕数据驱动建模、动态关系学习和轻量化系统开发展开研究。具体包括：</a:t>
            </a:r>
            <a:endParaRPr lang="en-US" altLang="zh-CN" sz="1200" dirty="0">
              <a:solidFill>
                <a:srgbClr val="7F7F7F"/>
              </a:solidFill>
            </a:endParaRPr>
          </a:p>
          <a:p>
            <a:endParaRPr lang="en-US" altLang="zh-CN" sz="1200" dirty="0">
              <a:solidFill>
                <a:srgbClr val="7F7F7F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通过构建“时序特征提取→图关系建模→协同预测”的完整方法框架</a:t>
            </a:r>
            <a:endParaRPr lang="en-US" altLang="zh-CN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err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构建动态时空图模型，设计自适应图结构学习机制，以单体为节点构建包含SOH、温度梯度、内阻变化等特征的动态图</a:t>
            </a: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err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开发边缘端推理引擎，集成实时监测、剩余寿命预测和均衡策略推荐功能，支持多场景部署</a:t>
            </a: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传统单体SOH预测难以反映整体健康状态，限制了电池组的性能和寿命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pPr algn="l">
              <a:lnSpc>
                <a:spcPct val="150000"/>
              </a:lnSpc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突破传统BMS难以评估电池组整体寿命的瓶颈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通过公开及仿真数据验证模型有效性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为该领域提出解决思路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sz="1200" dirty="0">
                <a:solidFill>
                  <a:srgbClr val="7F7F7F"/>
                </a:solidFill>
              </a:rPr>
              <a:t> 项目研究内容聚焦锂电池组健康状态（SOH）协同预测，围绕数据驱动建模、动态关系学习和轻量化系统开发展开研究。具体包括：</a:t>
            </a:r>
            <a:endParaRPr lang="en-US" altLang="zh-CN" sz="1200" dirty="0">
              <a:solidFill>
                <a:srgbClr val="7F7F7F"/>
              </a:solidFill>
            </a:endParaRPr>
          </a:p>
          <a:p>
            <a:endParaRPr lang="en-US" altLang="zh-CN" sz="1200" dirty="0">
              <a:solidFill>
                <a:srgbClr val="7F7F7F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通过构建“时序特征提取→图关系建模→协同预测”的完整方法框架</a:t>
            </a:r>
            <a:endParaRPr lang="en-US" altLang="zh-CN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err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构建动态时空图模型，设计自适应图结构学习机制，以单体为节点构建包含SOH、温度梯度、内阻变化等特征的动态图</a:t>
            </a: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err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开发边缘端推理引擎，集成实时监测、剩余寿命预测和均衡策略推荐功能，支持多场景部署</a:t>
            </a: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56255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数据预处理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(Data Preprocessing)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滑动窗口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将电池的时间序列数据（如电压、电流等）通过滑动窗口切分为样本。每个样本包含一段历史数据作为输入（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x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），以及未来的一段数据作为预测目标（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y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）。</a:t>
            </a:r>
          </a:p>
          <a:p>
            <a:pPr lvl="1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节点特征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提取训练数据的原始特征作为“节点特征”，用于后续学习节点（电池单体）之间的隐式关系。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混合图构建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(Hybrid Graph Construction)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这是项目的核心创新点。它不只依赖单一的图结构，而是融合了两种图：</a:t>
            </a:r>
          </a:p>
          <a:p>
            <a:pPr lvl="2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物理图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(Physical Graph)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基于先验知识（如电池的串并联物理连接方式）手动定义的图结构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zh-CN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A_phys_edge_index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。这代表了明确的物理依赖关系。</a:t>
            </a:r>
          </a:p>
          <a:p>
            <a:pPr lvl="2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数据驱动图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(Data-Driven Graph)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通过一个 </a:t>
            </a:r>
            <a:r>
              <a:rPr lang="en-US" altLang="zh-CN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GraphLearner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模块，从数据特征中自动学习节点之间潜在的、非线性的依赖关系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zh-CN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A_data_edge_index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pPr lvl="1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融合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将物理图和数据图的边进行拼接（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Concatenate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），形成一个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混合图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(Hybrid Graph)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，既包含物理约束，又包含数据中挖掘出的隐式关联。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时空特征提取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zh-CN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Spatio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-Temporal Modeling)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空间依赖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(GAT)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使用 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图注意力网络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(GAT)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在混合图上进行卷积。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能够根据混合图结构，聚合邻居节点的信息，捕捉电池单体之间的空间相关性。</a:t>
            </a:r>
          </a:p>
          <a:p>
            <a:pPr lvl="1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时间依赖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(GRU/LSTM)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的输出输入到 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门控循环单元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(GRU)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或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LSTM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中，捕捉单个电池随时间变化的趋势（时间相关性）。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特征融合与预测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(Fusion &amp; Prediction)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提取的空间特征与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GRU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提取的时间特征进行拼接融合。</a:t>
            </a:r>
          </a:p>
          <a:p>
            <a:pPr lvl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通过全连接层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(Fully Connected Layers)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将融合后的特征映射为最终的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SOH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预测值。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模型训练与评估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使用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（均方误差）和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L1 Loss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的组合作为损失函数进行端到端训练。</a:t>
            </a:r>
          </a:p>
          <a:p>
            <a:pPr lvl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最终在测试集上评估，并生成可视化报告。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数据预处理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(Data Preprocessing)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滑动窗口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将电池的时间序列数据（如电压、电流等）通过滑动窗口切分为样本。每个样本包含一段历史数据作为输入（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x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），以及未来的一段数据作为预测目标（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y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）。</a:t>
            </a:r>
          </a:p>
          <a:p>
            <a:pPr lvl="1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节点特征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提取训练数据的原始特征作为“节点特征”，用于后续学习节点（电池单体）之间的隐式关系。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混合图构建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(Hybrid Graph Construction)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这是项目的核心创新点。它不只依赖单一的图结构，而是融合了两种图：</a:t>
            </a:r>
          </a:p>
          <a:p>
            <a:pPr lvl="2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物理图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(Physical Graph)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基于先验知识（如电池的串并联物理连接方式）手动定义的图结构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zh-CN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A_phys_edge_index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。这代表了明确的物理依赖关系。</a:t>
            </a:r>
          </a:p>
          <a:p>
            <a:pPr lvl="2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数据驱动图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(Data-Driven Graph)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通过一个 </a:t>
            </a:r>
            <a:r>
              <a:rPr lang="en-US" altLang="zh-CN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GraphLearner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模块，从数据特征中自动学习节点之间潜在的、非线性的依赖关系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zh-CN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A_data_edge_index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pPr lvl="1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融合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将物理图和数据图的边进行拼接（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Concatenate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），形成一个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混合图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(Hybrid Graph)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，既包含物理约束，又包含数据中挖掘出的隐式关联。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时空特征提取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zh-CN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Spatio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-Temporal Modeling)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空间依赖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(GAT)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使用 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图注意力网络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(GAT)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在混合图上进行卷积。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能够根据混合图结构，聚合邻居节点的信息，捕捉电池单体之间的空间相关性。</a:t>
            </a:r>
          </a:p>
          <a:p>
            <a:pPr lvl="1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时间依赖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(GRU/LSTM)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的输出输入到 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门控循环单元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(GRU)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或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LSTM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中，捕捉单个电池随时间变化的趋势（时间相关性）。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特征融合与预测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(Fusion &amp; Prediction)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提取的空间特征与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GRU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提取的时间特征进行拼接融合。</a:t>
            </a:r>
          </a:p>
          <a:p>
            <a:pPr lvl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通过全连接层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(Fully Connected Layers)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将融合后的特征映射为最终的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SOH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预测值。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模型训练与评估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使用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（均方误差）和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L1 Loss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的组合作为损失函数进行端到端训练。</a:t>
            </a:r>
          </a:p>
          <a:p>
            <a:pPr lvl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最终在测试集上评估，并生成可视化报告。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97021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数据预处理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(Data Preprocessing)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滑动窗口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将电池的时间序列数据（如电压、电流等）通过滑动窗口切分为样本。每个样本包含一段历史数据作为输入（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x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），以及未来的一段数据作为预测目标（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y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）。</a:t>
            </a:r>
          </a:p>
          <a:p>
            <a:pPr lvl="1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节点特征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提取训练数据的原始特征作为“节点特征”，用于后续学习节点（电池单体）之间的隐式关系。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混合图构建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(Hybrid Graph Construction)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这是项目的核心创新点。它不只依赖单一的图结构，而是融合了两种图：</a:t>
            </a:r>
          </a:p>
          <a:p>
            <a:pPr lvl="2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物理图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(Physical Graph)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基于先验知识（如电池的串并联物理连接方式）手动定义的图结构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zh-CN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A_phys_edge_index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。这代表了明确的物理依赖关系。</a:t>
            </a:r>
          </a:p>
          <a:p>
            <a:pPr lvl="2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数据驱动图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(Data-Driven Graph)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通过一个 </a:t>
            </a:r>
            <a:r>
              <a:rPr lang="en-US" altLang="zh-CN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GraphLearner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模块，从数据特征中自动学习节点之间潜在的、非线性的依赖关系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zh-CN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A_data_edge_index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pPr lvl="1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融合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将物理图和数据图的边进行拼接（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Concatenate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），形成一个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混合图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(Hybrid Graph)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，既包含物理约束，又包含数据中挖掘出的隐式关联。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时空特征提取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zh-CN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Spatio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-Temporal Modeling)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空间依赖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(GAT)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使用 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图注意力网络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(GAT)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在混合图上进行卷积。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能够根据混合图结构，聚合邻居节点的信息，捕捉电池单体之间的空间相关性。</a:t>
            </a:r>
          </a:p>
          <a:p>
            <a:pPr lvl="1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时间依赖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(GRU/LSTM)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的输出输入到 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门控循环单元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(GRU)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或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LSTM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中，捕捉单个电池随时间变化的趋势（时间相关性）。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特征融合与预测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(Fusion &amp; Prediction)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提取的空间特征与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GRU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提取的时间特征进行拼接融合。</a:t>
            </a:r>
          </a:p>
          <a:p>
            <a:pPr lvl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通过全连接层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(Fully Connected Layers)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将融合后的特征映射为最终的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SOH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预测值。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模型训练与评估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使用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（均方误差）和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L1 Loss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的组合作为损失函数进行端到端训练。</a:t>
            </a:r>
          </a:p>
          <a:p>
            <a:pPr lvl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最终在测试集上评估，并生成可视化报告。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21249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数据预处理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(Data Preprocessing)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滑动窗口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将电池的时间序列数据（如电压、电流等）通过滑动窗口切分为样本。每个样本包含一段历史数据作为输入（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x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），以及未来的一段数据作为预测目标（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y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）。</a:t>
            </a:r>
          </a:p>
          <a:p>
            <a:pPr lvl="1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节点特征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提取训练数据的原始特征作为“节点特征”，用于后续学习节点（电池单体）之间的隐式关系。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混合图构建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(Hybrid Graph Construction)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这是项目的核心创新点。它不只依赖单一的图结构，而是融合了两种图：</a:t>
            </a:r>
          </a:p>
          <a:p>
            <a:pPr lvl="2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物理图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(Physical Graph)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基于先验知识（如电池的串并联物理连接方式）手动定义的图结构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zh-CN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A_phys_edge_index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。这代表了明确的物理依赖关系。</a:t>
            </a:r>
          </a:p>
          <a:p>
            <a:pPr lvl="2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数据驱动图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(Data-Driven Graph)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通过一个 </a:t>
            </a:r>
            <a:r>
              <a:rPr lang="en-US" altLang="zh-CN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GraphLearner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模块，从数据特征中自动学习节点之间潜在的、非线性的依赖关系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zh-CN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A_data_edge_index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pPr lvl="1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融合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将物理图和数据图的边进行拼接（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Concatenate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），形成一个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混合图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(Hybrid Graph)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，既包含物理约束，又包含数据中挖掘出的隐式关联。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时空特征提取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zh-CN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Spatio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-Temporal Modeling)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空间依赖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(GAT)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使用 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图注意力网络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(GAT)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在混合图上进行卷积。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能够根据混合图结构，聚合邻居节点的信息，捕捉电池单体之间的空间相关性。</a:t>
            </a:r>
          </a:p>
          <a:p>
            <a:pPr lvl="1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时间依赖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(GRU/LSTM)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的输出输入到 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门控循环单元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(GRU)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或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LSTM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中，捕捉单个电池随时间变化的趋势（时间相关性）。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特征融合与预测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(Fusion &amp; Prediction)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提取的空间特征与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GRU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提取的时间特征进行拼接融合。</a:t>
            </a:r>
          </a:p>
          <a:p>
            <a:pPr lvl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通过全连接层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(Fully Connected Layers)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将融合后的特征映射为最终的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SOH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预测值。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模型训练与评估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使用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（均方误差）和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L1 Loss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的组合作为损失函数进行端到端训练。</a:t>
            </a:r>
          </a:p>
          <a:p>
            <a:pPr lvl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最终在测试集上评估，并生成可视化报告。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03006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模型评估体系不完善与实验管理缺失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模型研发层面，项目目前可能依赖于零散的脚本执行，缺乏一套系统性的实验管理与深度评估体系。这种“炼丹式”的调参方式效率低下，且难以科学地比较不同模型或参数的优劣，导致研发过程的可复现性差。同时，仅仅依赖几个宏观指标（如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RMSE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来评估模型，无法全面考察其在不同工况、不同老化阶段的性能表现以及对噪声的鲁棒性。对此，我们建议引入专业的实验管理工具，以系统化地跟踪、记录和比较每一次训练，实现科学调参。在评估方面，应采用更严格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K-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折交叉验证来获得更稳健的性能度量，并建立涵盖误差分布分析、多工况表现评估等多维度的综合评价体系，从而对模型能力进行更深入、更全面的剖析。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系统架构耦合度高与可扩展性受限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项目当前的架构可能存在代码与数据、配置的耦合问题，限制了其未来的扩展能力。例如，数据预处理逻辑可能与特定数据集的格式强绑定，当需要接入新数据源时，将引发大量的代码修改。同样，代码中可能散布着硬编码的文件路径或参数，这为项目的迁移和维护带来了隐患。解决方案在于进行架构解耦：一方面，应将数据处理流程抽象化，设计一个由配置文件驱动的通用数据加载管道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Pipeline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），使其能够灵活适配不同格式的数据源，实现代码与数据的分离。另一方面，必须严格执行统一配置管理的原则，将所有可变参数集中于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config.py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文件中，确保代码的纯粹性与高可移植性。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应用交互体验单一与分析能力不足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在用户交互层面，当前的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应用虽然实现了核心的预测功能，但其价值挖掘深度不足，主要停留在“上传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显示”的单一模式。用户仅能被动接收预测曲线，无法进行更深度的探索式分析，这限制了系统作为决策支持工具的潜力。为了将系统从一个“预测工具”提升为“智能管理助手”，我们必须极大地丰富其交互与分析能力。具体而言，应引入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Plotly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等高级库，将静态图表升级为支持缩放、对比的交互式图表。更重要的是，应增加深度分析视图，例如利用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SHAP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等技术对模型进行解释，可视化展示影响预测的关键因素、电池组内部各单体的健康度对比，以及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GNN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学到的动态关联图，从而为用户提供真正具有洞察力的决策支持。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模型评估体系不完善与实验管理缺失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模型研发层面，项目目前可能依赖于零散的脚本执行，缺乏一套系统性的实验管理与深度评估体系。这种“炼丹式”的调参方式效率低下，且难以科学地比较不同模型或参数的优劣，导致研发过程的可复现性差。同时，仅仅依赖几个宏观指标（如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RMSE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来评估模型，无法全面考察其在不同工况、不同老化阶段的性能表现以及对噪声的鲁棒性。对此，我们建议引入专业的实验管理工具，以系统化地跟踪、记录和比较每一次训练，实现科学调参。在评估方面，应采用更严格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K-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折交叉验证来获得更稳健的性能度量，并建立涵盖误差分布分析、多工况表现评估等多维度的综合评价体系，从而对模型能力进行更深入、更全面的剖析。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系统架构耦合度高与可扩展性受限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项目当前的架构可能存在代码与数据、配置的耦合问题，限制了其未来的扩展能力。例如，数据预处理逻辑可能与特定数据集的格式强绑定，当需要接入新数据源时，将引发大量的代码修改。同样，代码中可能散布着硬编码的文件路径或参数，这为项目的迁移和维护带来了隐患。解决方案在于进行架构解耦：一方面，应将数据处理流程抽象化，设计一个由配置文件驱动的通用数据加载管道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Pipeline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），使其能够灵活适配不同格式的数据源，实现代码与数据的分离。另一方面，必须严格执行统一配置管理的原则，将所有可变参数集中于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config.py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文件中，确保代码的纯粹性与高可移植性。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应用交互体验单一与分析能力不足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在用户交互层面，当前的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应用虽然实现了核心的预测功能，但其价值挖掘深度不足，主要停留在“上传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显示”的单一模式。用户仅能被动接收预测曲线，无法进行更深度的探索式分析，这限制了系统作为决策支持工具的潜力。为了将系统从一个“预测工具”提升为“智能管理助手”，我们必须极大地丰富其交互与分析能力。具体而言，应引入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Plotly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等高级库，将静态图表升级为支持缩放、对比的交互式图表。更重要的是，应增加深度分析视图，例如利用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SHAP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等技术对模型进行解释，可视化展示影响预测的关键因素、电池组内部各单体的健康度对比，以及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GNN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学到的动态关联图，从而为用户提供真正具有洞察力的决策支持。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51381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亮亮图文旗舰店</a:t>
            </a:r>
          </a:p>
          <a:p>
            <a:r>
              <a:rPr lang="en-US" altLang="zh-CN"/>
              <a:t>https://liangliangtuwen.tmall.com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17F9E5-2C3F-427E-9E18-8DB1205C1BD4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705866" y="0"/>
            <a:ext cx="2780268" cy="3063728"/>
            <a:chOff x="4705866" y="0"/>
            <a:chExt cx="2780268" cy="3063728"/>
          </a:xfrm>
        </p:grpSpPr>
        <p:sp>
          <p:nvSpPr>
            <p:cNvPr id="28" name="任意多边形 27"/>
            <p:cNvSpPr/>
            <p:nvPr/>
          </p:nvSpPr>
          <p:spPr>
            <a:xfrm>
              <a:off x="4705866" y="0"/>
              <a:ext cx="2780268" cy="3063728"/>
            </a:xfrm>
            <a:custGeom>
              <a:avLst/>
              <a:gdLst>
                <a:gd name="connsiteX0" fmla="*/ 0 w 2780268"/>
                <a:gd name="connsiteY0" fmla="*/ 0 h 3063728"/>
                <a:gd name="connsiteX1" fmla="*/ 2780268 w 2780268"/>
                <a:gd name="connsiteY1" fmla="*/ 0 h 3063728"/>
                <a:gd name="connsiteX2" fmla="*/ 2780268 w 2780268"/>
                <a:gd name="connsiteY2" fmla="*/ 1673594 h 3063728"/>
                <a:gd name="connsiteX3" fmla="*/ 1390134 w 2780268"/>
                <a:gd name="connsiteY3" fmla="*/ 3063728 h 3063728"/>
                <a:gd name="connsiteX4" fmla="*/ 0 w 2780268"/>
                <a:gd name="connsiteY4" fmla="*/ 1673594 h 3063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80268" h="3063728">
                  <a:moveTo>
                    <a:pt x="0" y="0"/>
                  </a:moveTo>
                  <a:lnTo>
                    <a:pt x="2780268" y="0"/>
                  </a:lnTo>
                  <a:lnTo>
                    <a:pt x="2780268" y="1673594"/>
                  </a:lnTo>
                  <a:cubicBezTo>
                    <a:pt x="2780268" y="2441344"/>
                    <a:pt x="2157884" y="3063728"/>
                    <a:pt x="1390134" y="3063728"/>
                  </a:cubicBezTo>
                  <a:cubicBezTo>
                    <a:pt x="622384" y="3063728"/>
                    <a:pt x="0" y="2441344"/>
                    <a:pt x="0" y="1673594"/>
                  </a:cubicBezTo>
                  <a:close/>
                </a:path>
              </a:pathLst>
            </a:custGeom>
            <a:solidFill>
              <a:srgbClr val="6B15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4875891" y="408799"/>
              <a:ext cx="2439190" cy="2439192"/>
              <a:chOff x="5007734" y="902247"/>
              <a:chExt cx="2543685" cy="2543686"/>
            </a:xfrm>
          </p:grpSpPr>
          <p:sp>
            <p:nvSpPr>
              <p:cNvPr id="8" name="椭圆 7"/>
              <p:cNvSpPr/>
              <p:nvPr/>
            </p:nvSpPr>
            <p:spPr>
              <a:xfrm>
                <a:off x="5007734" y="902247"/>
                <a:ext cx="2543685" cy="2543686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rgbClr val="E8E8E8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outerShdw blurRad="139700" dist="38100" dir="5400000" algn="t" rotWithShape="0">
                  <a:prstClr val="black">
                    <a:alpha val="1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椭圆 8"/>
              <p:cNvSpPr/>
              <p:nvPr/>
            </p:nvSpPr>
            <p:spPr>
              <a:xfrm rot="10800000">
                <a:off x="5160137" y="1054647"/>
                <a:ext cx="2213120" cy="22131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rgbClr val="E8E8E8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innerShdw blurRad="88900">
                  <a:prstClr val="black">
                    <a:alpha val="16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椭圆 9"/>
              <p:cNvSpPr/>
              <p:nvPr/>
            </p:nvSpPr>
            <p:spPr>
              <a:xfrm rot="10800000">
                <a:off x="5253394" y="1176935"/>
                <a:ext cx="2052364" cy="2052365"/>
              </a:xfrm>
              <a:prstGeom prst="ellipse">
                <a:avLst/>
              </a:prstGeom>
              <a:blipFill dpi="0" rotWithShape="0">
                <a:blip r:embed="rId3" cstate="print"/>
                <a:srcRect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4" name="矩形 13"/>
          <p:cNvSpPr/>
          <p:nvPr/>
        </p:nvSpPr>
        <p:spPr>
          <a:xfrm>
            <a:off x="0" y="5223311"/>
            <a:ext cx="12192000" cy="1634689"/>
          </a:xfrm>
          <a:prstGeom prst="rect">
            <a:avLst/>
          </a:prstGeom>
          <a:solidFill>
            <a:srgbClr val="6B1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0" y="5053673"/>
            <a:ext cx="12192000" cy="77108"/>
          </a:xfrm>
          <a:prstGeom prst="rect">
            <a:avLst/>
          </a:prstGeom>
          <a:solidFill>
            <a:srgbClr val="6B1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2536795" y="3063779"/>
            <a:ext cx="72672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rgbClr val="7030A0"/>
                </a:solidFill>
              </a:rPr>
              <a:t>Optimistic Recovery for High-Availability Software via Partial Process State Preservation</a:t>
            </a:r>
            <a:endParaRPr lang="zh-CN" altLang="en-US" sz="28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"/>
          <p:cNvSpPr>
            <a:spLocks noChangeArrowheads="1"/>
          </p:cNvSpPr>
          <p:nvPr/>
        </p:nvSpPr>
        <p:spPr bwMode="auto">
          <a:xfrm>
            <a:off x="2783201" y="4360410"/>
            <a:ext cx="6599864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6B155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Phoenix——</a:t>
            </a:r>
            <a:r>
              <a:rPr lang="zh-CN" altLang="en-US" sz="2000" dirty="0">
                <a:solidFill>
                  <a:srgbClr val="6B155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基于局部进程状态的乐观中断恢复模型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2009878" y="5435084"/>
            <a:ext cx="2308121" cy="35989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第一作者：靖宇卓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7079457" y="5435084"/>
            <a:ext cx="1937544" cy="6451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论文阅读汇报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2009894" y="6047562"/>
            <a:ext cx="4175006" cy="6451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小组成员：丛方昊、钱展飞、李泽昊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7079456" y="6047542"/>
            <a:ext cx="2832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指导老师：李浩然老师</a:t>
            </a:r>
          </a:p>
        </p:txBody>
      </p:sp>
      <p:sp>
        <p:nvSpPr>
          <p:cNvPr id="11" name="椭圆 10"/>
          <p:cNvSpPr/>
          <p:nvPr/>
        </p:nvSpPr>
        <p:spPr>
          <a:xfrm>
            <a:off x="4837064" y="408451"/>
            <a:ext cx="2490717" cy="249071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0" name="Picture 49" descr="59-南开大学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9407" y="440795"/>
            <a:ext cx="2426030" cy="2426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/>
        </p:nvCxnSpPr>
        <p:spPr>
          <a:xfrm>
            <a:off x="3594242" y="1619964"/>
            <a:ext cx="8597758" cy="0"/>
          </a:xfrm>
          <a:prstGeom prst="line">
            <a:avLst/>
          </a:prstGeom>
          <a:ln w="508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4353421" y="1257282"/>
            <a:ext cx="976380" cy="767990"/>
            <a:chOff x="5389226" y="1257300"/>
            <a:chExt cx="976380" cy="767990"/>
          </a:xfrm>
        </p:grpSpPr>
        <p:sp>
          <p:nvSpPr>
            <p:cNvPr id="11" name="矩形 10"/>
            <p:cNvSpPr/>
            <p:nvPr/>
          </p:nvSpPr>
          <p:spPr>
            <a:xfrm>
              <a:off x="5493421" y="1257300"/>
              <a:ext cx="767990" cy="767990"/>
            </a:xfrm>
            <a:prstGeom prst="rect">
              <a:avLst/>
            </a:prstGeom>
            <a:solidFill>
              <a:srgbClr val="6B15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5389226" y="1351966"/>
              <a:ext cx="976380" cy="6548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7258801" y="1257299"/>
            <a:ext cx="976380" cy="767990"/>
            <a:chOff x="7767862" y="1257300"/>
            <a:chExt cx="976380" cy="767990"/>
          </a:xfrm>
        </p:grpSpPr>
        <p:sp>
          <p:nvSpPr>
            <p:cNvPr id="12" name="矩形 11"/>
            <p:cNvSpPr/>
            <p:nvPr/>
          </p:nvSpPr>
          <p:spPr>
            <a:xfrm>
              <a:off x="7850724" y="1257300"/>
              <a:ext cx="767990" cy="767990"/>
            </a:xfrm>
            <a:prstGeom prst="rect">
              <a:avLst/>
            </a:prstGeom>
            <a:solidFill>
              <a:srgbClr val="6B15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7767862" y="1351966"/>
              <a:ext cx="976380" cy="6548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0178497" y="1257300"/>
            <a:ext cx="976380" cy="767990"/>
            <a:chOff x="10178497" y="1257300"/>
            <a:chExt cx="976380" cy="767990"/>
          </a:xfrm>
        </p:grpSpPr>
        <p:sp>
          <p:nvSpPr>
            <p:cNvPr id="13" name="矩形 12"/>
            <p:cNvSpPr/>
            <p:nvPr/>
          </p:nvSpPr>
          <p:spPr>
            <a:xfrm>
              <a:off x="10282692" y="1257300"/>
              <a:ext cx="767990" cy="767990"/>
            </a:xfrm>
            <a:prstGeom prst="rect">
              <a:avLst/>
            </a:prstGeom>
            <a:solidFill>
              <a:srgbClr val="6B15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0178497" y="1351966"/>
              <a:ext cx="976380" cy="6548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3842553" y="2293268"/>
            <a:ext cx="2031317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论文研究背景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6709999" y="2293267"/>
            <a:ext cx="2031317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400" dirty="0">
                <a:solidFill>
                  <a:schemeClr val="tx1"/>
                </a:solidFill>
              </a:rPr>
              <a:t>论文重要观察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9652594" y="2295883"/>
            <a:ext cx="2031317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400" dirty="0">
                <a:solidFill>
                  <a:schemeClr val="tx1"/>
                </a:solidFill>
              </a:rPr>
              <a:t>简要模型介绍</a:t>
            </a:r>
          </a:p>
        </p:txBody>
      </p:sp>
      <p:cxnSp>
        <p:nvCxnSpPr>
          <p:cNvPr id="30" name="直接连接符 29"/>
          <p:cNvCxnSpPr/>
          <p:nvPr/>
        </p:nvCxnSpPr>
        <p:spPr>
          <a:xfrm>
            <a:off x="1738117" y="4610812"/>
            <a:ext cx="9149998" cy="0"/>
          </a:xfrm>
          <a:prstGeom prst="line">
            <a:avLst/>
          </a:prstGeom>
          <a:ln w="508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>
            <a:off x="2811806" y="4248150"/>
            <a:ext cx="976380" cy="767990"/>
            <a:chOff x="2811806" y="4248150"/>
            <a:chExt cx="976380" cy="767990"/>
          </a:xfrm>
        </p:grpSpPr>
        <p:sp>
          <p:nvSpPr>
            <p:cNvPr id="31" name="矩形 30"/>
            <p:cNvSpPr/>
            <p:nvPr/>
          </p:nvSpPr>
          <p:spPr>
            <a:xfrm>
              <a:off x="2916001" y="4248150"/>
              <a:ext cx="767990" cy="767990"/>
            </a:xfrm>
            <a:prstGeom prst="rect">
              <a:avLst/>
            </a:prstGeom>
            <a:solidFill>
              <a:srgbClr val="6B15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2811806" y="4342816"/>
              <a:ext cx="97638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6107044" y="4226810"/>
            <a:ext cx="976380" cy="767990"/>
            <a:chOff x="5190442" y="4248150"/>
            <a:chExt cx="976380" cy="767990"/>
          </a:xfrm>
        </p:grpSpPr>
        <p:sp>
          <p:nvSpPr>
            <p:cNvPr id="32" name="矩形 31"/>
            <p:cNvSpPr/>
            <p:nvPr/>
          </p:nvSpPr>
          <p:spPr>
            <a:xfrm>
              <a:off x="5273304" y="4248150"/>
              <a:ext cx="767990" cy="767990"/>
            </a:xfrm>
            <a:prstGeom prst="rect">
              <a:avLst/>
            </a:prstGeom>
            <a:solidFill>
              <a:srgbClr val="6B15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5190442" y="4342816"/>
              <a:ext cx="97638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9412821" y="4177684"/>
            <a:ext cx="976380" cy="767990"/>
            <a:chOff x="7601077" y="4248150"/>
            <a:chExt cx="976380" cy="767990"/>
          </a:xfrm>
        </p:grpSpPr>
        <p:sp>
          <p:nvSpPr>
            <p:cNvPr id="33" name="矩形 32"/>
            <p:cNvSpPr/>
            <p:nvPr/>
          </p:nvSpPr>
          <p:spPr>
            <a:xfrm>
              <a:off x="7705272" y="4248150"/>
              <a:ext cx="767990" cy="767990"/>
            </a:xfrm>
            <a:prstGeom prst="rect">
              <a:avLst/>
            </a:prstGeom>
            <a:solidFill>
              <a:srgbClr val="6B15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7601077" y="4342816"/>
              <a:ext cx="97638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矩形 4"/>
          <p:cNvSpPr/>
          <p:nvPr/>
        </p:nvSpPr>
        <p:spPr>
          <a:xfrm rot="5400000">
            <a:off x="-2611658" y="2611657"/>
            <a:ext cx="6858001" cy="1634689"/>
          </a:xfrm>
          <a:prstGeom prst="rect">
            <a:avLst/>
          </a:prstGeom>
          <a:solidFill>
            <a:srgbClr val="6B1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 rot="5400000">
            <a:off x="-1663229" y="3390448"/>
            <a:ext cx="6858001" cy="77108"/>
          </a:xfrm>
          <a:prstGeom prst="rect">
            <a:avLst/>
          </a:prstGeom>
          <a:solidFill>
            <a:srgbClr val="6B1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8438642" y="5240274"/>
            <a:ext cx="2954647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400" dirty="0">
                <a:solidFill>
                  <a:schemeClr val="tx1"/>
                </a:solidFill>
              </a:rPr>
              <a:t>老师点评与提问环节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5651500" y="5238036"/>
            <a:ext cx="1884701" cy="461661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400" dirty="0">
                <a:solidFill>
                  <a:schemeClr val="tx1"/>
                </a:solidFill>
              </a:rPr>
              <a:t>结论与贡献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27377" y="247904"/>
            <a:ext cx="1015663" cy="175892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4" name="文本框 3"/>
          <p:cNvSpPr txBox="1"/>
          <p:nvPr userDrawn="1"/>
        </p:nvSpPr>
        <p:spPr>
          <a:xfrm>
            <a:off x="2299609" y="5238036"/>
            <a:ext cx="2005690" cy="461659"/>
          </a:xfrm>
          <a:prstGeom prst="rect">
            <a:avLst/>
          </a:prstGeom>
        </p:spPr>
        <p:txBody>
          <a:bodyPr wrap="none" rtlCol="0">
            <a:noAutofit/>
          </a:bodyPr>
          <a:lstStyle/>
          <a:p>
            <a:r>
              <a:rPr lang="zh-CN" altLang="en-US" sz="2400" dirty="0">
                <a:latin typeface="微软雅黑" charset="0"/>
                <a:ea typeface="微软雅黑" charset="0"/>
                <a:cs typeface="微软雅黑" charset="0"/>
              </a:rPr>
              <a:t>框架核心技术</a:t>
            </a:r>
            <a:endParaRPr lang="zh-CN" altLang="en-US" dirty="0"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2857500" y="2686050"/>
            <a:ext cx="9334500" cy="1295400"/>
          </a:xfrm>
          <a:prstGeom prst="rect">
            <a:avLst/>
          </a:prstGeom>
          <a:solidFill>
            <a:srgbClr val="6B1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2857500" y="4133850"/>
            <a:ext cx="8210550" cy="95250"/>
          </a:xfrm>
          <a:prstGeom prst="rect">
            <a:avLst/>
          </a:prstGeom>
          <a:solidFill>
            <a:srgbClr val="6B1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123950" y="2686050"/>
            <a:ext cx="1543050" cy="1543050"/>
            <a:chOff x="1123950" y="2686050"/>
            <a:chExt cx="1543050" cy="1543050"/>
          </a:xfrm>
        </p:grpSpPr>
        <p:sp>
          <p:nvSpPr>
            <p:cNvPr id="10" name="矩形 9"/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solidFill>
              <a:srgbClr val="6B15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407285" y="2903577"/>
              <a:ext cx="97638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2950335" y="2781038"/>
            <a:ext cx="3877977" cy="83099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论文研究背景</a:t>
            </a:r>
          </a:p>
        </p:txBody>
      </p:sp>
      <p:sp>
        <p:nvSpPr>
          <p:cNvPr id="16" name="矩形 15"/>
          <p:cNvSpPr/>
          <p:nvPr/>
        </p:nvSpPr>
        <p:spPr>
          <a:xfrm>
            <a:off x="3084632" y="3612031"/>
            <a:ext cx="2559475" cy="369328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Research Background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</p:grpSpPr>
        <p:sp>
          <p:nvSpPr>
            <p:cNvPr id="5" name="圆角矩形 4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6B15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01167" y="144940"/>
            <a:ext cx="3467608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回顾几个重要内容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4224581" y="217491"/>
            <a:ext cx="10096500" cy="439541"/>
            <a:chOff x="2584397" y="217491"/>
            <a:chExt cx="10096500" cy="439541"/>
          </a:xfrm>
        </p:grpSpPr>
        <p:sp>
          <p:nvSpPr>
            <p:cNvPr id="4" name="圆角矩形 3"/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6B15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/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6B15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2609797" y="239783"/>
              <a:ext cx="3456241" cy="276995"/>
            </a:xfrm>
            <a:prstGeom prst="rect">
              <a:avLst/>
            </a:prstGeom>
          </p:spPr>
          <p:txBody>
            <a:bodyPr wrap="square" lIns="91436" tIns="45718" rIns="91436" bIns="45718">
              <a:no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Review a few important points</a:t>
              </a:r>
              <a:endParaRPr sz="1600" dirty="0"/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2934151" y="1301908"/>
            <a:ext cx="3262423" cy="40010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/>
            <a:r>
              <a:rPr lang="zh-CN" altLang="en-US" sz="2000" b="1" dirty="0">
                <a:solidFill>
                  <a:srgbClr val="6B15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陷入中断需要消耗大量资源</a:t>
            </a:r>
          </a:p>
        </p:txBody>
      </p:sp>
      <p:sp>
        <p:nvSpPr>
          <p:cNvPr id="23" name="矩形 22"/>
          <p:cNvSpPr/>
          <p:nvPr/>
        </p:nvSpPr>
        <p:spPr>
          <a:xfrm>
            <a:off x="2929431" y="1671236"/>
            <a:ext cx="8181243" cy="1382395"/>
          </a:xfrm>
          <a:prstGeom prst="rect">
            <a:avLst/>
          </a:prstGeom>
        </p:spPr>
        <p:txBody>
          <a:bodyPr wrap="square" lIns="91436" tIns="45718" rIns="91436" bIns="45718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软件系统出现问题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-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崩溃、死循环、内存泄漏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陷入中断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/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异常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- -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意味着大量损失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关键在于快速正确恢复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- -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减少损失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1052286" y="3189836"/>
            <a:ext cx="100584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/>
          <p:cNvGrpSpPr/>
          <p:nvPr/>
        </p:nvGrpSpPr>
        <p:grpSpPr>
          <a:xfrm>
            <a:off x="1355698" y="1374479"/>
            <a:ext cx="1233715" cy="1233715"/>
            <a:chOff x="1355698" y="1973940"/>
            <a:chExt cx="1233715" cy="1233715"/>
          </a:xfrm>
        </p:grpSpPr>
        <p:sp>
          <p:nvSpPr>
            <p:cNvPr id="10" name="矩形 9"/>
            <p:cNvSpPr/>
            <p:nvPr/>
          </p:nvSpPr>
          <p:spPr>
            <a:xfrm>
              <a:off x="1355698" y="1973940"/>
              <a:ext cx="1233715" cy="1233715"/>
            </a:xfrm>
            <a:prstGeom prst="rect">
              <a:avLst/>
            </a:prstGeom>
            <a:solidFill>
              <a:srgbClr val="6B15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CN" altLang="en-US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auto">
            <a:xfrm>
              <a:off x="1602173" y="2200868"/>
              <a:ext cx="700214" cy="758777"/>
            </a:xfrm>
            <a:custGeom>
              <a:avLst/>
              <a:gdLst>
                <a:gd name="T0" fmla="*/ 166 w 275"/>
                <a:gd name="T1" fmla="*/ 0 h 298"/>
                <a:gd name="T2" fmla="*/ 249 w 275"/>
                <a:gd name="T3" fmla="*/ 49 h 298"/>
                <a:gd name="T4" fmla="*/ 156 w 275"/>
                <a:gd name="T5" fmla="*/ 204 h 298"/>
                <a:gd name="T6" fmla="*/ 112 w 275"/>
                <a:gd name="T7" fmla="*/ 230 h 298"/>
                <a:gd name="T8" fmla="*/ 69 w 275"/>
                <a:gd name="T9" fmla="*/ 233 h 298"/>
                <a:gd name="T10" fmla="*/ 73 w 275"/>
                <a:gd name="T11" fmla="*/ 153 h 298"/>
                <a:gd name="T12" fmla="*/ 166 w 275"/>
                <a:gd name="T13" fmla="*/ 0 h 298"/>
                <a:gd name="T14" fmla="*/ 166 w 275"/>
                <a:gd name="T15" fmla="*/ 0 h 298"/>
                <a:gd name="T16" fmla="*/ 246 w 275"/>
                <a:gd name="T17" fmla="*/ 293 h 298"/>
                <a:gd name="T18" fmla="*/ 251 w 275"/>
                <a:gd name="T19" fmla="*/ 264 h 298"/>
                <a:gd name="T20" fmla="*/ 161 w 275"/>
                <a:gd name="T21" fmla="*/ 262 h 298"/>
                <a:gd name="T22" fmla="*/ 275 w 275"/>
                <a:gd name="T23" fmla="*/ 255 h 298"/>
                <a:gd name="T24" fmla="*/ 273 w 275"/>
                <a:gd name="T25" fmla="*/ 242 h 298"/>
                <a:gd name="T26" fmla="*/ 241 w 275"/>
                <a:gd name="T27" fmla="*/ 240 h 298"/>
                <a:gd name="T28" fmla="*/ 273 w 275"/>
                <a:gd name="T29" fmla="*/ 235 h 298"/>
                <a:gd name="T30" fmla="*/ 261 w 275"/>
                <a:gd name="T31" fmla="*/ 211 h 298"/>
                <a:gd name="T32" fmla="*/ 178 w 275"/>
                <a:gd name="T33" fmla="*/ 201 h 298"/>
                <a:gd name="T34" fmla="*/ 176 w 275"/>
                <a:gd name="T35" fmla="*/ 226 h 298"/>
                <a:gd name="T36" fmla="*/ 212 w 275"/>
                <a:gd name="T37" fmla="*/ 233 h 298"/>
                <a:gd name="T38" fmla="*/ 0 w 275"/>
                <a:gd name="T39" fmla="*/ 242 h 298"/>
                <a:gd name="T40" fmla="*/ 3 w 275"/>
                <a:gd name="T41" fmla="*/ 264 h 298"/>
                <a:gd name="T42" fmla="*/ 139 w 275"/>
                <a:gd name="T43" fmla="*/ 281 h 298"/>
                <a:gd name="T44" fmla="*/ 86 w 275"/>
                <a:gd name="T45" fmla="*/ 281 h 298"/>
                <a:gd name="T46" fmla="*/ 88 w 275"/>
                <a:gd name="T47" fmla="*/ 298 h 298"/>
                <a:gd name="T48" fmla="*/ 246 w 275"/>
                <a:gd name="T49" fmla="*/ 293 h 298"/>
                <a:gd name="T50" fmla="*/ 246 w 275"/>
                <a:gd name="T51" fmla="*/ 293 h 298"/>
                <a:gd name="T52" fmla="*/ 107 w 275"/>
                <a:gd name="T53" fmla="*/ 213 h 298"/>
                <a:gd name="T54" fmla="*/ 139 w 275"/>
                <a:gd name="T55" fmla="*/ 194 h 298"/>
                <a:gd name="T56" fmla="*/ 88 w 275"/>
                <a:gd name="T57" fmla="*/ 162 h 298"/>
                <a:gd name="T58" fmla="*/ 86 w 275"/>
                <a:gd name="T59" fmla="*/ 201 h 298"/>
                <a:gd name="T60" fmla="*/ 107 w 275"/>
                <a:gd name="T61" fmla="*/ 213 h 298"/>
                <a:gd name="T62" fmla="*/ 107 w 275"/>
                <a:gd name="T63" fmla="*/ 213 h 298"/>
                <a:gd name="T64" fmla="*/ 219 w 275"/>
                <a:gd name="T65" fmla="*/ 49 h 298"/>
                <a:gd name="T66" fmla="*/ 144 w 275"/>
                <a:gd name="T67" fmla="*/ 172 h 298"/>
                <a:gd name="T68" fmla="*/ 154 w 275"/>
                <a:gd name="T69" fmla="*/ 177 h 298"/>
                <a:gd name="T70" fmla="*/ 229 w 275"/>
                <a:gd name="T71" fmla="*/ 53 h 298"/>
                <a:gd name="T72" fmla="*/ 219 w 275"/>
                <a:gd name="T73" fmla="*/ 49 h 298"/>
                <a:gd name="T74" fmla="*/ 219 w 275"/>
                <a:gd name="T75" fmla="*/ 49 h 298"/>
                <a:gd name="T76" fmla="*/ 173 w 275"/>
                <a:gd name="T77" fmla="*/ 20 h 298"/>
                <a:gd name="T78" fmla="*/ 98 w 275"/>
                <a:gd name="T79" fmla="*/ 143 h 298"/>
                <a:gd name="T80" fmla="*/ 115 w 275"/>
                <a:gd name="T81" fmla="*/ 153 h 298"/>
                <a:gd name="T82" fmla="*/ 190 w 275"/>
                <a:gd name="T83" fmla="*/ 29 h 298"/>
                <a:gd name="T84" fmla="*/ 173 w 275"/>
                <a:gd name="T85" fmla="*/ 2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75" h="298">
                  <a:moveTo>
                    <a:pt x="166" y="0"/>
                  </a:moveTo>
                  <a:lnTo>
                    <a:pt x="249" y="49"/>
                  </a:lnTo>
                  <a:lnTo>
                    <a:pt x="156" y="204"/>
                  </a:lnTo>
                  <a:lnTo>
                    <a:pt x="112" y="230"/>
                  </a:lnTo>
                  <a:lnTo>
                    <a:pt x="69" y="233"/>
                  </a:lnTo>
                  <a:lnTo>
                    <a:pt x="73" y="153"/>
                  </a:lnTo>
                  <a:lnTo>
                    <a:pt x="166" y="0"/>
                  </a:lnTo>
                  <a:lnTo>
                    <a:pt x="166" y="0"/>
                  </a:lnTo>
                  <a:close/>
                  <a:moveTo>
                    <a:pt x="246" y="293"/>
                  </a:moveTo>
                  <a:lnTo>
                    <a:pt x="251" y="264"/>
                  </a:lnTo>
                  <a:lnTo>
                    <a:pt x="161" y="262"/>
                  </a:lnTo>
                  <a:lnTo>
                    <a:pt x="275" y="255"/>
                  </a:lnTo>
                  <a:lnTo>
                    <a:pt x="273" y="242"/>
                  </a:lnTo>
                  <a:lnTo>
                    <a:pt x="241" y="240"/>
                  </a:lnTo>
                  <a:lnTo>
                    <a:pt x="273" y="235"/>
                  </a:lnTo>
                  <a:lnTo>
                    <a:pt x="261" y="211"/>
                  </a:lnTo>
                  <a:lnTo>
                    <a:pt x="178" y="201"/>
                  </a:lnTo>
                  <a:lnTo>
                    <a:pt x="176" y="226"/>
                  </a:lnTo>
                  <a:lnTo>
                    <a:pt x="212" y="233"/>
                  </a:lnTo>
                  <a:lnTo>
                    <a:pt x="0" y="242"/>
                  </a:lnTo>
                  <a:lnTo>
                    <a:pt x="3" y="264"/>
                  </a:lnTo>
                  <a:lnTo>
                    <a:pt x="139" y="281"/>
                  </a:lnTo>
                  <a:lnTo>
                    <a:pt x="86" y="281"/>
                  </a:lnTo>
                  <a:lnTo>
                    <a:pt x="88" y="298"/>
                  </a:lnTo>
                  <a:lnTo>
                    <a:pt x="246" y="293"/>
                  </a:lnTo>
                  <a:lnTo>
                    <a:pt x="246" y="293"/>
                  </a:lnTo>
                  <a:close/>
                  <a:moveTo>
                    <a:pt x="107" y="213"/>
                  </a:moveTo>
                  <a:lnTo>
                    <a:pt x="139" y="194"/>
                  </a:lnTo>
                  <a:lnTo>
                    <a:pt x="88" y="162"/>
                  </a:lnTo>
                  <a:lnTo>
                    <a:pt x="86" y="201"/>
                  </a:lnTo>
                  <a:lnTo>
                    <a:pt x="107" y="213"/>
                  </a:lnTo>
                  <a:lnTo>
                    <a:pt x="107" y="213"/>
                  </a:lnTo>
                  <a:close/>
                  <a:moveTo>
                    <a:pt x="219" y="49"/>
                  </a:moveTo>
                  <a:lnTo>
                    <a:pt x="144" y="172"/>
                  </a:lnTo>
                  <a:lnTo>
                    <a:pt x="154" y="177"/>
                  </a:lnTo>
                  <a:lnTo>
                    <a:pt x="229" y="53"/>
                  </a:lnTo>
                  <a:lnTo>
                    <a:pt x="219" y="49"/>
                  </a:lnTo>
                  <a:lnTo>
                    <a:pt x="219" y="49"/>
                  </a:lnTo>
                  <a:close/>
                  <a:moveTo>
                    <a:pt x="173" y="20"/>
                  </a:moveTo>
                  <a:lnTo>
                    <a:pt x="98" y="143"/>
                  </a:lnTo>
                  <a:lnTo>
                    <a:pt x="115" y="153"/>
                  </a:lnTo>
                  <a:lnTo>
                    <a:pt x="190" y="29"/>
                  </a:lnTo>
                  <a:lnTo>
                    <a:pt x="173" y="2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algn="l"/>
              <a:endParaRPr lang="zh-CN" altLang="en-US" baseline="-25000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853002" y="3619562"/>
            <a:ext cx="3371579" cy="820376"/>
            <a:chOff x="1050901" y="5107864"/>
            <a:chExt cx="3371579" cy="820376"/>
          </a:xfrm>
        </p:grpSpPr>
        <p:sp>
          <p:nvSpPr>
            <p:cNvPr id="30" name="矩形 29"/>
            <p:cNvSpPr/>
            <p:nvPr/>
          </p:nvSpPr>
          <p:spPr>
            <a:xfrm>
              <a:off x="1942175" y="5107864"/>
              <a:ext cx="2480305" cy="396579"/>
            </a:xfrm>
            <a:prstGeom prst="rect">
              <a:avLst/>
            </a:prstGeom>
          </p:spPr>
          <p:txBody>
            <a:bodyPr wrap="square" lIns="91436" tIns="45718" rIns="91436" bIns="45718">
              <a:spAutoFit/>
            </a:bodyPr>
            <a:lstStyle/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中断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1050901" y="5208240"/>
              <a:ext cx="720000" cy="720000"/>
              <a:chOff x="1050901" y="5208240"/>
              <a:chExt cx="720000" cy="720000"/>
            </a:xfrm>
          </p:grpSpPr>
          <p:sp>
            <p:nvSpPr>
              <p:cNvPr id="27" name="矩形 26"/>
              <p:cNvSpPr>
                <a:spLocks noChangeAspect="1"/>
              </p:cNvSpPr>
              <p:nvPr/>
            </p:nvSpPr>
            <p:spPr>
              <a:xfrm>
                <a:off x="1050901" y="5208240"/>
                <a:ext cx="720000" cy="720000"/>
              </a:xfrm>
              <a:prstGeom prst="rect">
                <a:avLst/>
              </a:prstGeom>
              <a:solidFill>
                <a:srgbClr val="6B155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9" name="组合 18"/>
              <p:cNvGrpSpPr/>
              <p:nvPr/>
            </p:nvGrpSpPr>
            <p:grpSpPr>
              <a:xfrm>
                <a:off x="1198771" y="5355768"/>
                <a:ext cx="440632" cy="398667"/>
                <a:chOff x="5632450" y="3006725"/>
                <a:chExt cx="933450" cy="844551"/>
              </a:xfrm>
            </p:grpSpPr>
            <p:sp>
              <p:nvSpPr>
                <p:cNvPr id="16" name="Freeform 9"/>
                <p:cNvSpPr/>
                <p:nvPr/>
              </p:nvSpPr>
              <p:spPr bwMode="auto">
                <a:xfrm>
                  <a:off x="5632450" y="3006725"/>
                  <a:ext cx="933450" cy="700088"/>
                </a:xfrm>
                <a:custGeom>
                  <a:avLst/>
                  <a:gdLst>
                    <a:gd name="T0" fmla="*/ 123 w 246"/>
                    <a:gd name="T1" fmla="*/ 0 h 184"/>
                    <a:gd name="T2" fmla="*/ 0 w 246"/>
                    <a:gd name="T3" fmla="*/ 124 h 184"/>
                    <a:gd name="T4" fmla="*/ 15 w 246"/>
                    <a:gd name="T5" fmla="*/ 183 h 184"/>
                    <a:gd name="T6" fmla="*/ 15 w 246"/>
                    <a:gd name="T7" fmla="*/ 150 h 184"/>
                    <a:gd name="T8" fmla="*/ 21 w 246"/>
                    <a:gd name="T9" fmla="*/ 134 h 184"/>
                    <a:gd name="T10" fmla="*/ 20 w 246"/>
                    <a:gd name="T11" fmla="*/ 124 h 184"/>
                    <a:gd name="T12" fmla="*/ 123 w 246"/>
                    <a:gd name="T13" fmla="*/ 21 h 184"/>
                    <a:gd name="T14" fmla="*/ 226 w 246"/>
                    <a:gd name="T15" fmla="*/ 124 h 184"/>
                    <a:gd name="T16" fmla="*/ 225 w 246"/>
                    <a:gd name="T17" fmla="*/ 135 h 184"/>
                    <a:gd name="T18" fmla="*/ 230 w 246"/>
                    <a:gd name="T19" fmla="*/ 150 h 184"/>
                    <a:gd name="T20" fmla="*/ 230 w 246"/>
                    <a:gd name="T21" fmla="*/ 184 h 184"/>
                    <a:gd name="T22" fmla="*/ 246 w 246"/>
                    <a:gd name="T23" fmla="*/ 124 h 184"/>
                    <a:gd name="T24" fmla="*/ 123 w 246"/>
                    <a:gd name="T25" fmla="*/ 0 h 1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246" h="184">
                      <a:moveTo>
                        <a:pt x="123" y="0"/>
                      </a:moveTo>
                      <a:cubicBezTo>
                        <a:pt x="55" y="1"/>
                        <a:pt x="0" y="56"/>
                        <a:pt x="0" y="124"/>
                      </a:cubicBezTo>
                      <a:cubicBezTo>
                        <a:pt x="0" y="144"/>
                        <a:pt x="5" y="165"/>
                        <a:pt x="15" y="183"/>
                      </a:cubicBezTo>
                      <a:cubicBezTo>
                        <a:pt x="15" y="150"/>
                        <a:pt x="15" y="150"/>
                        <a:pt x="15" y="150"/>
                      </a:cubicBezTo>
                      <a:cubicBezTo>
                        <a:pt x="15" y="144"/>
                        <a:pt x="17" y="139"/>
                        <a:pt x="21" y="134"/>
                      </a:cubicBezTo>
                      <a:cubicBezTo>
                        <a:pt x="20" y="130"/>
                        <a:pt x="20" y="127"/>
                        <a:pt x="20" y="124"/>
                      </a:cubicBezTo>
                      <a:cubicBezTo>
                        <a:pt x="20" y="67"/>
                        <a:pt x="66" y="21"/>
                        <a:pt x="123" y="21"/>
                      </a:cubicBezTo>
                      <a:cubicBezTo>
                        <a:pt x="180" y="21"/>
                        <a:pt x="226" y="67"/>
                        <a:pt x="226" y="124"/>
                      </a:cubicBezTo>
                      <a:cubicBezTo>
                        <a:pt x="226" y="128"/>
                        <a:pt x="225" y="131"/>
                        <a:pt x="225" y="135"/>
                      </a:cubicBezTo>
                      <a:cubicBezTo>
                        <a:pt x="228" y="139"/>
                        <a:pt x="230" y="145"/>
                        <a:pt x="230" y="150"/>
                      </a:cubicBezTo>
                      <a:cubicBezTo>
                        <a:pt x="230" y="184"/>
                        <a:pt x="230" y="184"/>
                        <a:pt x="230" y="184"/>
                      </a:cubicBezTo>
                      <a:cubicBezTo>
                        <a:pt x="241" y="166"/>
                        <a:pt x="246" y="145"/>
                        <a:pt x="246" y="124"/>
                      </a:cubicBezTo>
                      <a:cubicBezTo>
                        <a:pt x="246" y="56"/>
                        <a:pt x="191" y="1"/>
                        <a:pt x="123" y="0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Freeform 10"/>
                <p:cNvSpPr/>
                <p:nvPr/>
              </p:nvSpPr>
              <p:spPr bwMode="auto">
                <a:xfrm>
                  <a:off x="5716588" y="3478213"/>
                  <a:ext cx="204788" cy="373063"/>
                </a:xfrm>
                <a:custGeom>
                  <a:avLst/>
                  <a:gdLst>
                    <a:gd name="T0" fmla="*/ 0 w 54"/>
                    <a:gd name="T1" fmla="*/ 21 h 98"/>
                    <a:gd name="T2" fmla="*/ 0 w 54"/>
                    <a:gd name="T3" fmla="*/ 26 h 98"/>
                    <a:gd name="T4" fmla="*/ 0 w 54"/>
                    <a:gd name="T5" fmla="*/ 58 h 98"/>
                    <a:gd name="T6" fmla="*/ 0 w 54"/>
                    <a:gd name="T7" fmla="*/ 72 h 98"/>
                    <a:gd name="T8" fmla="*/ 38 w 54"/>
                    <a:gd name="T9" fmla="*/ 98 h 98"/>
                    <a:gd name="T10" fmla="*/ 54 w 54"/>
                    <a:gd name="T11" fmla="*/ 98 h 98"/>
                    <a:gd name="T12" fmla="*/ 54 w 54"/>
                    <a:gd name="T13" fmla="*/ 0 h 98"/>
                    <a:gd name="T14" fmla="*/ 38 w 54"/>
                    <a:gd name="T15" fmla="*/ 0 h 98"/>
                    <a:gd name="T16" fmla="*/ 0 w 54"/>
                    <a:gd name="T17" fmla="*/ 21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4" h="98">
                      <a:moveTo>
                        <a:pt x="0" y="21"/>
                      </a:moveTo>
                      <a:cubicBezTo>
                        <a:pt x="0" y="23"/>
                        <a:pt x="0" y="24"/>
                        <a:pt x="0" y="26"/>
                      </a:cubicBezTo>
                      <a:cubicBezTo>
                        <a:pt x="0" y="58"/>
                        <a:pt x="0" y="58"/>
                        <a:pt x="0" y="58"/>
                      </a:cubicBezTo>
                      <a:cubicBezTo>
                        <a:pt x="0" y="72"/>
                        <a:pt x="0" y="72"/>
                        <a:pt x="0" y="72"/>
                      </a:cubicBezTo>
                      <a:cubicBezTo>
                        <a:pt x="0" y="86"/>
                        <a:pt x="17" y="98"/>
                        <a:pt x="38" y="98"/>
                      </a:cubicBezTo>
                      <a:cubicBezTo>
                        <a:pt x="54" y="98"/>
                        <a:pt x="54" y="98"/>
                        <a:pt x="54" y="98"/>
                      </a:cubicBezTo>
                      <a:cubicBezTo>
                        <a:pt x="54" y="0"/>
                        <a:pt x="54" y="0"/>
                        <a:pt x="54" y="0"/>
                      </a:cubicBezTo>
                      <a:cubicBezTo>
                        <a:pt x="38" y="0"/>
                        <a:pt x="38" y="0"/>
                        <a:pt x="38" y="0"/>
                      </a:cubicBezTo>
                      <a:cubicBezTo>
                        <a:pt x="19" y="0"/>
                        <a:pt x="4" y="9"/>
                        <a:pt x="0" y="21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8" name="Freeform 11"/>
                <p:cNvSpPr/>
                <p:nvPr/>
              </p:nvSpPr>
              <p:spPr bwMode="auto">
                <a:xfrm>
                  <a:off x="6278563" y="3478213"/>
                  <a:ext cx="200025" cy="373063"/>
                </a:xfrm>
                <a:custGeom>
                  <a:avLst/>
                  <a:gdLst>
                    <a:gd name="T0" fmla="*/ 53 w 53"/>
                    <a:gd name="T1" fmla="*/ 72 h 98"/>
                    <a:gd name="T2" fmla="*/ 53 w 53"/>
                    <a:gd name="T3" fmla="*/ 57 h 98"/>
                    <a:gd name="T4" fmla="*/ 53 w 53"/>
                    <a:gd name="T5" fmla="*/ 26 h 98"/>
                    <a:gd name="T6" fmla="*/ 53 w 53"/>
                    <a:gd name="T7" fmla="*/ 23 h 98"/>
                    <a:gd name="T8" fmla="*/ 16 w 53"/>
                    <a:gd name="T9" fmla="*/ 0 h 98"/>
                    <a:gd name="T10" fmla="*/ 0 w 53"/>
                    <a:gd name="T11" fmla="*/ 0 h 98"/>
                    <a:gd name="T12" fmla="*/ 0 w 53"/>
                    <a:gd name="T13" fmla="*/ 98 h 98"/>
                    <a:gd name="T14" fmla="*/ 16 w 53"/>
                    <a:gd name="T15" fmla="*/ 98 h 98"/>
                    <a:gd name="T16" fmla="*/ 53 w 53"/>
                    <a:gd name="T17" fmla="*/ 72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3" h="98">
                      <a:moveTo>
                        <a:pt x="53" y="72"/>
                      </a:moveTo>
                      <a:cubicBezTo>
                        <a:pt x="53" y="57"/>
                        <a:pt x="53" y="57"/>
                        <a:pt x="53" y="57"/>
                      </a:cubicBezTo>
                      <a:cubicBezTo>
                        <a:pt x="53" y="26"/>
                        <a:pt x="53" y="26"/>
                        <a:pt x="53" y="26"/>
                      </a:cubicBezTo>
                      <a:cubicBezTo>
                        <a:pt x="53" y="25"/>
                        <a:pt x="53" y="24"/>
                        <a:pt x="53" y="23"/>
                      </a:cubicBezTo>
                      <a:cubicBezTo>
                        <a:pt x="51" y="10"/>
                        <a:pt x="35" y="0"/>
                        <a:pt x="16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98"/>
                        <a:pt x="0" y="98"/>
                        <a:pt x="0" y="98"/>
                      </a:cubicBezTo>
                      <a:cubicBezTo>
                        <a:pt x="16" y="98"/>
                        <a:pt x="16" y="98"/>
                        <a:pt x="16" y="98"/>
                      </a:cubicBezTo>
                      <a:cubicBezTo>
                        <a:pt x="36" y="98"/>
                        <a:pt x="53" y="86"/>
                        <a:pt x="53" y="72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  <p:grpSp>
        <p:nvGrpSpPr>
          <p:cNvPr id="20" name="组合 19"/>
          <p:cNvGrpSpPr/>
          <p:nvPr/>
        </p:nvGrpSpPr>
        <p:grpSpPr>
          <a:xfrm>
            <a:off x="4386080" y="3526681"/>
            <a:ext cx="4726382" cy="1229705"/>
            <a:chOff x="4638706" y="5084068"/>
            <a:chExt cx="4077715" cy="1229705"/>
          </a:xfrm>
        </p:grpSpPr>
        <p:grpSp>
          <p:nvGrpSpPr>
            <p:cNvPr id="35" name="组合 34"/>
            <p:cNvGrpSpPr/>
            <p:nvPr/>
          </p:nvGrpSpPr>
          <p:grpSpPr>
            <a:xfrm>
              <a:off x="4638706" y="5084068"/>
              <a:ext cx="4077715" cy="1229705"/>
              <a:chOff x="4832503" y="4800965"/>
              <a:chExt cx="4077715" cy="1229705"/>
            </a:xfrm>
          </p:grpSpPr>
          <p:sp>
            <p:nvSpPr>
              <p:cNvPr id="28" name="矩形 27"/>
              <p:cNvSpPr>
                <a:spLocks noChangeAspect="1"/>
              </p:cNvSpPr>
              <p:nvPr/>
            </p:nvSpPr>
            <p:spPr>
              <a:xfrm>
                <a:off x="4832503" y="4925137"/>
                <a:ext cx="720000" cy="720000"/>
              </a:xfrm>
              <a:prstGeom prst="rect">
                <a:avLst/>
              </a:prstGeom>
              <a:solidFill>
                <a:srgbClr val="6B155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矩形 30"/>
              <p:cNvSpPr/>
              <p:nvPr/>
            </p:nvSpPr>
            <p:spPr>
              <a:xfrm>
                <a:off x="5645172" y="4800965"/>
                <a:ext cx="3265046" cy="1229705"/>
              </a:xfrm>
              <a:prstGeom prst="rect">
                <a:avLst/>
              </a:prstGeom>
            </p:spPr>
            <p:txBody>
              <a:bodyPr wrap="square" lIns="91436" tIns="45718" rIns="91436" bIns="45718">
                <a:no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进程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1" name="Group 14"/>
            <p:cNvGrpSpPr>
              <a:grpSpLocks noChangeAspect="1"/>
            </p:cNvGrpSpPr>
            <p:nvPr/>
          </p:nvGrpSpPr>
          <p:grpSpPr bwMode="auto">
            <a:xfrm>
              <a:off x="4775712" y="5398725"/>
              <a:ext cx="449018" cy="359214"/>
              <a:chOff x="3535" y="1916"/>
              <a:chExt cx="610" cy="488"/>
            </a:xfrm>
          </p:grpSpPr>
          <p:sp>
            <p:nvSpPr>
              <p:cNvPr id="25" name="AutoShape 13"/>
              <p:cNvSpPr>
                <a:spLocks noChangeAspect="1" noChangeArrowheads="1" noTextEdit="1"/>
              </p:cNvSpPr>
              <p:nvPr/>
            </p:nvSpPr>
            <p:spPr bwMode="auto">
              <a:xfrm>
                <a:off x="3535" y="1916"/>
                <a:ext cx="610" cy="4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Freeform 15"/>
              <p:cNvSpPr/>
              <p:nvPr/>
            </p:nvSpPr>
            <p:spPr bwMode="auto">
              <a:xfrm>
                <a:off x="3537" y="2033"/>
                <a:ext cx="436" cy="374"/>
              </a:xfrm>
              <a:custGeom>
                <a:avLst/>
                <a:gdLst>
                  <a:gd name="T0" fmla="*/ 46 w 436"/>
                  <a:gd name="T1" fmla="*/ 374 h 374"/>
                  <a:gd name="T2" fmla="*/ 125 w 436"/>
                  <a:gd name="T3" fmla="*/ 292 h 374"/>
                  <a:gd name="T4" fmla="*/ 436 w 436"/>
                  <a:gd name="T5" fmla="*/ 292 h 374"/>
                  <a:gd name="T6" fmla="*/ 436 w 436"/>
                  <a:gd name="T7" fmla="*/ 204 h 374"/>
                  <a:gd name="T8" fmla="*/ 154 w 436"/>
                  <a:gd name="T9" fmla="*/ 204 h 374"/>
                  <a:gd name="T10" fmla="*/ 137 w 436"/>
                  <a:gd name="T11" fmla="*/ 204 h 374"/>
                  <a:gd name="T12" fmla="*/ 137 w 436"/>
                  <a:gd name="T13" fmla="*/ 189 h 374"/>
                  <a:gd name="T14" fmla="*/ 137 w 436"/>
                  <a:gd name="T15" fmla="*/ 0 h 374"/>
                  <a:gd name="T16" fmla="*/ 0 w 436"/>
                  <a:gd name="T17" fmla="*/ 0 h 374"/>
                  <a:gd name="T18" fmla="*/ 0 w 436"/>
                  <a:gd name="T19" fmla="*/ 292 h 374"/>
                  <a:gd name="T20" fmla="*/ 46 w 436"/>
                  <a:gd name="T21" fmla="*/ 292 h 374"/>
                  <a:gd name="T22" fmla="*/ 46 w 436"/>
                  <a:gd name="T23" fmla="*/ 374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6" h="374">
                    <a:moveTo>
                      <a:pt x="46" y="374"/>
                    </a:moveTo>
                    <a:lnTo>
                      <a:pt x="125" y="292"/>
                    </a:lnTo>
                    <a:lnTo>
                      <a:pt x="436" y="292"/>
                    </a:lnTo>
                    <a:lnTo>
                      <a:pt x="436" y="204"/>
                    </a:lnTo>
                    <a:lnTo>
                      <a:pt x="154" y="204"/>
                    </a:lnTo>
                    <a:lnTo>
                      <a:pt x="137" y="204"/>
                    </a:lnTo>
                    <a:lnTo>
                      <a:pt x="137" y="189"/>
                    </a:lnTo>
                    <a:lnTo>
                      <a:pt x="137" y="0"/>
                    </a:lnTo>
                    <a:lnTo>
                      <a:pt x="0" y="0"/>
                    </a:lnTo>
                    <a:lnTo>
                      <a:pt x="0" y="292"/>
                    </a:lnTo>
                    <a:lnTo>
                      <a:pt x="46" y="292"/>
                    </a:lnTo>
                    <a:lnTo>
                      <a:pt x="46" y="37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Freeform 16"/>
              <p:cNvSpPr>
                <a:spLocks noEditPoints="1"/>
              </p:cNvSpPr>
              <p:nvPr/>
            </p:nvSpPr>
            <p:spPr bwMode="auto">
              <a:xfrm>
                <a:off x="3691" y="1919"/>
                <a:ext cx="452" cy="390"/>
              </a:xfrm>
              <a:custGeom>
                <a:avLst/>
                <a:gdLst>
                  <a:gd name="T0" fmla="*/ 136 w 189"/>
                  <a:gd name="T1" fmla="*/ 126 h 163"/>
                  <a:gd name="T2" fmla="*/ 168 w 189"/>
                  <a:gd name="T3" fmla="*/ 163 h 163"/>
                  <a:gd name="T4" fmla="*/ 168 w 189"/>
                  <a:gd name="T5" fmla="*/ 126 h 163"/>
                  <a:gd name="T6" fmla="*/ 189 w 189"/>
                  <a:gd name="T7" fmla="*/ 126 h 163"/>
                  <a:gd name="T8" fmla="*/ 189 w 189"/>
                  <a:gd name="T9" fmla="*/ 0 h 163"/>
                  <a:gd name="T10" fmla="*/ 0 w 189"/>
                  <a:gd name="T11" fmla="*/ 0 h 163"/>
                  <a:gd name="T12" fmla="*/ 0 w 189"/>
                  <a:gd name="T13" fmla="*/ 48 h 163"/>
                  <a:gd name="T14" fmla="*/ 0 w 189"/>
                  <a:gd name="T15" fmla="*/ 126 h 163"/>
                  <a:gd name="T16" fmla="*/ 118 w 189"/>
                  <a:gd name="T17" fmla="*/ 126 h 163"/>
                  <a:gd name="T18" fmla="*/ 136 w 189"/>
                  <a:gd name="T19" fmla="*/ 126 h 163"/>
                  <a:gd name="T20" fmla="*/ 158 w 189"/>
                  <a:gd name="T21" fmla="*/ 50 h 163"/>
                  <a:gd name="T22" fmla="*/ 172 w 189"/>
                  <a:gd name="T23" fmla="*/ 65 h 163"/>
                  <a:gd name="T24" fmla="*/ 158 w 189"/>
                  <a:gd name="T25" fmla="*/ 79 h 163"/>
                  <a:gd name="T26" fmla="*/ 143 w 189"/>
                  <a:gd name="T27" fmla="*/ 65 h 163"/>
                  <a:gd name="T28" fmla="*/ 158 w 189"/>
                  <a:gd name="T29" fmla="*/ 50 h 163"/>
                  <a:gd name="T30" fmla="*/ 37 w 189"/>
                  <a:gd name="T31" fmla="*/ 79 h 163"/>
                  <a:gd name="T32" fmla="*/ 23 w 189"/>
                  <a:gd name="T33" fmla="*/ 65 h 163"/>
                  <a:gd name="T34" fmla="*/ 37 w 189"/>
                  <a:gd name="T35" fmla="*/ 50 h 163"/>
                  <a:gd name="T36" fmla="*/ 51 w 189"/>
                  <a:gd name="T37" fmla="*/ 65 h 163"/>
                  <a:gd name="T38" fmla="*/ 37 w 189"/>
                  <a:gd name="T39" fmla="*/ 79 h 163"/>
                  <a:gd name="T40" fmla="*/ 77 w 189"/>
                  <a:gd name="T41" fmla="*/ 79 h 163"/>
                  <a:gd name="T42" fmla="*/ 63 w 189"/>
                  <a:gd name="T43" fmla="*/ 65 h 163"/>
                  <a:gd name="T44" fmla="*/ 77 w 189"/>
                  <a:gd name="T45" fmla="*/ 50 h 163"/>
                  <a:gd name="T46" fmla="*/ 92 w 189"/>
                  <a:gd name="T47" fmla="*/ 65 h 163"/>
                  <a:gd name="T48" fmla="*/ 77 w 189"/>
                  <a:gd name="T49" fmla="*/ 79 h 163"/>
                  <a:gd name="T50" fmla="*/ 117 w 189"/>
                  <a:gd name="T51" fmla="*/ 79 h 163"/>
                  <a:gd name="T52" fmla="*/ 103 w 189"/>
                  <a:gd name="T53" fmla="*/ 65 h 163"/>
                  <a:gd name="T54" fmla="*/ 117 w 189"/>
                  <a:gd name="T55" fmla="*/ 50 h 163"/>
                  <a:gd name="T56" fmla="*/ 118 w 189"/>
                  <a:gd name="T57" fmla="*/ 50 h 163"/>
                  <a:gd name="T58" fmla="*/ 132 w 189"/>
                  <a:gd name="T59" fmla="*/ 65 h 163"/>
                  <a:gd name="T60" fmla="*/ 118 w 189"/>
                  <a:gd name="T61" fmla="*/ 79 h 163"/>
                  <a:gd name="T62" fmla="*/ 117 w 189"/>
                  <a:gd name="T63" fmla="*/ 79 h 1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89" h="163">
                    <a:moveTo>
                      <a:pt x="136" y="126"/>
                    </a:moveTo>
                    <a:cubicBezTo>
                      <a:pt x="168" y="163"/>
                      <a:pt x="168" y="163"/>
                      <a:pt x="168" y="163"/>
                    </a:cubicBezTo>
                    <a:cubicBezTo>
                      <a:pt x="168" y="126"/>
                      <a:pt x="168" y="126"/>
                      <a:pt x="168" y="126"/>
                    </a:cubicBezTo>
                    <a:cubicBezTo>
                      <a:pt x="189" y="126"/>
                      <a:pt x="189" y="126"/>
                      <a:pt x="189" y="126"/>
                    </a:cubicBezTo>
                    <a:cubicBezTo>
                      <a:pt x="189" y="0"/>
                      <a:pt x="189" y="0"/>
                      <a:pt x="18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126"/>
                      <a:pt x="0" y="126"/>
                      <a:pt x="0" y="126"/>
                    </a:cubicBezTo>
                    <a:cubicBezTo>
                      <a:pt x="118" y="126"/>
                      <a:pt x="118" y="126"/>
                      <a:pt x="118" y="126"/>
                    </a:cubicBezTo>
                    <a:lnTo>
                      <a:pt x="136" y="126"/>
                    </a:lnTo>
                    <a:close/>
                    <a:moveTo>
                      <a:pt x="158" y="50"/>
                    </a:moveTo>
                    <a:cubicBezTo>
                      <a:pt x="166" y="50"/>
                      <a:pt x="172" y="57"/>
                      <a:pt x="172" y="65"/>
                    </a:cubicBezTo>
                    <a:cubicBezTo>
                      <a:pt x="172" y="73"/>
                      <a:pt x="166" y="79"/>
                      <a:pt x="158" y="79"/>
                    </a:cubicBezTo>
                    <a:cubicBezTo>
                      <a:pt x="150" y="79"/>
                      <a:pt x="143" y="73"/>
                      <a:pt x="143" y="65"/>
                    </a:cubicBezTo>
                    <a:cubicBezTo>
                      <a:pt x="143" y="57"/>
                      <a:pt x="150" y="50"/>
                      <a:pt x="158" y="50"/>
                    </a:cubicBezTo>
                    <a:moveTo>
                      <a:pt x="37" y="79"/>
                    </a:moveTo>
                    <a:cubicBezTo>
                      <a:pt x="29" y="79"/>
                      <a:pt x="23" y="73"/>
                      <a:pt x="23" y="65"/>
                    </a:cubicBezTo>
                    <a:cubicBezTo>
                      <a:pt x="23" y="57"/>
                      <a:pt x="29" y="50"/>
                      <a:pt x="37" y="50"/>
                    </a:cubicBezTo>
                    <a:cubicBezTo>
                      <a:pt x="45" y="50"/>
                      <a:pt x="51" y="57"/>
                      <a:pt x="51" y="65"/>
                    </a:cubicBezTo>
                    <a:cubicBezTo>
                      <a:pt x="51" y="73"/>
                      <a:pt x="45" y="79"/>
                      <a:pt x="37" y="79"/>
                    </a:cubicBezTo>
                    <a:moveTo>
                      <a:pt x="77" y="79"/>
                    </a:moveTo>
                    <a:cubicBezTo>
                      <a:pt x="69" y="79"/>
                      <a:pt x="63" y="73"/>
                      <a:pt x="63" y="65"/>
                    </a:cubicBezTo>
                    <a:cubicBezTo>
                      <a:pt x="63" y="57"/>
                      <a:pt x="69" y="50"/>
                      <a:pt x="77" y="50"/>
                    </a:cubicBezTo>
                    <a:cubicBezTo>
                      <a:pt x="85" y="50"/>
                      <a:pt x="92" y="57"/>
                      <a:pt x="92" y="65"/>
                    </a:cubicBezTo>
                    <a:cubicBezTo>
                      <a:pt x="92" y="73"/>
                      <a:pt x="85" y="79"/>
                      <a:pt x="77" y="79"/>
                    </a:cubicBezTo>
                    <a:moveTo>
                      <a:pt x="117" y="79"/>
                    </a:moveTo>
                    <a:cubicBezTo>
                      <a:pt x="110" y="79"/>
                      <a:pt x="103" y="73"/>
                      <a:pt x="103" y="65"/>
                    </a:cubicBezTo>
                    <a:cubicBezTo>
                      <a:pt x="103" y="57"/>
                      <a:pt x="110" y="50"/>
                      <a:pt x="117" y="50"/>
                    </a:cubicBezTo>
                    <a:cubicBezTo>
                      <a:pt x="118" y="50"/>
                      <a:pt x="118" y="50"/>
                      <a:pt x="118" y="50"/>
                    </a:cubicBezTo>
                    <a:cubicBezTo>
                      <a:pt x="126" y="51"/>
                      <a:pt x="132" y="57"/>
                      <a:pt x="132" y="65"/>
                    </a:cubicBezTo>
                    <a:cubicBezTo>
                      <a:pt x="132" y="72"/>
                      <a:pt x="126" y="78"/>
                      <a:pt x="118" y="79"/>
                    </a:cubicBezTo>
                    <a:cubicBezTo>
                      <a:pt x="118" y="79"/>
                      <a:pt x="118" y="79"/>
                      <a:pt x="117" y="79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38" name="组合 37"/>
          <p:cNvGrpSpPr/>
          <p:nvPr/>
        </p:nvGrpSpPr>
        <p:grpSpPr>
          <a:xfrm>
            <a:off x="7657600" y="3610617"/>
            <a:ext cx="3669196" cy="844172"/>
            <a:chOff x="8251253" y="5084068"/>
            <a:chExt cx="3264384" cy="844172"/>
          </a:xfrm>
        </p:grpSpPr>
        <p:sp>
          <p:nvSpPr>
            <p:cNvPr id="33" name="矩形 32"/>
            <p:cNvSpPr/>
            <p:nvPr/>
          </p:nvSpPr>
          <p:spPr>
            <a:xfrm>
              <a:off x="9120725" y="5084068"/>
              <a:ext cx="2394912" cy="458904"/>
            </a:xfrm>
            <a:prstGeom prst="rect">
              <a:avLst/>
            </a:prstGeom>
          </p:spPr>
          <p:txBody>
            <a:bodyPr wrap="square" lIns="91436" tIns="45718" rIns="91436" bIns="45718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线程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8251253" y="5208240"/>
              <a:ext cx="720000" cy="720000"/>
              <a:chOff x="8251253" y="5208240"/>
              <a:chExt cx="720000" cy="720000"/>
            </a:xfrm>
          </p:grpSpPr>
          <p:sp>
            <p:nvSpPr>
              <p:cNvPr id="29" name="矩形 28"/>
              <p:cNvSpPr>
                <a:spLocks noChangeAspect="1"/>
              </p:cNvSpPr>
              <p:nvPr/>
            </p:nvSpPr>
            <p:spPr>
              <a:xfrm>
                <a:off x="8251253" y="5208240"/>
                <a:ext cx="720000" cy="720000"/>
              </a:xfrm>
              <a:prstGeom prst="rect">
                <a:avLst/>
              </a:prstGeom>
              <a:solidFill>
                <a:srgbClr val="6B155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39" name="Group 19"/>
              <p:cNvGrpSpPr>
                <a:grpSpLocks noChangeAspect="1"/>
              </p:cNvGrpSpPr>
              <p:nvPr/>
            </p:nvGrpSpPr>
            <p:grpSpPr bwMode="auto">
              <a:xfrm>
                <a:off x="8406059" y="5362723"/>
                <a:ext cx="410388" cy="410388"/>
                <a:chOff x="3588" y="1908"/>
                <a:chExt cx="504" cy="504"/>
              </a:xfrm>
            </p:grpSpPr>
            <p:sp>
              <p:nvSpPr>
                <p:cNvPr id="40" name="AutoShape 18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3588" y="1908"/>
                  <a:ext cx="504" cy="50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1" name="Freeform 20"/>
                <p:cNvSpPr>
                  <a:spLocks noEditPoints="1"/>
                </p:cNvSpPr>
                <p:nvPr/>
              </p:nvSpPr>
              <p:spPr bwMode="auto">
                <a:xfrm>
                  <a:off x="3590" y="1908"/>
                  <a:ext cx="243" cy="506"/>
                </a:xfrm>
                <a:custGeom>
                  <a:avLst/>
                  <a:gdLst>
                    <a:gd name="T0" fmla="*/ 2 w 101"/>
                    <a:gd name="T1" fmla="*/ 205 h 211"/>
                    <a:gd name="T2" fmla="*/ 50 w 101"/>
                    <a:gd name="T3" fmla="*/ 181 h 211"/>
                    <a:gd name="T4" fmla="*/ 99 w 101"/>
                    <a:gd name="T5" fmla="*/ 205 h 211"/>
                    <a:gd name="T6" fmla="*/ 100 w 101"/>
                    <a:gd name="T7" fmla="*/ 205 h 211"/>
                    <a:gd name="T8" fmla="*/ 100 w 101"/>
                    <a:gd name="T9" fmla="*/ 45 h 211"/>
                    <a:gd name="T10" fmla="*/ 98 w 101"/>
                    <a:gd name="T11" fmla="*/ 22 h 211"/>
                    <a:gd name="T12" fmla="*/ 50 w 101"/>
                    <a:gd name="T13" fmla="*/ 0 h 211"/>
                    <a:gd name="T14" fmla="*/ 2 w 101"/>
                    <a:gd name="T15" fmla="*/ 22 h 211"/>
                    <a:gd name="T16" fmla="*/ 0 w 101"/>
                    <a:gd name="T17" fmla="*/ 45 h 211"/>
                    <a:gd name="T18" fmla="*/ 0 w 101"/>
                    <a:gd name="T19" fmla="*/ 205 h 211"/>
                    <a:gd name="T20" fmla="*/ 2 w 101"/>
                    <a:gd name="T21" fmla="*/ 205 h 211"/>
                    <a:gd name="T22" fmla="*/ 16 w 101"/>
                    <a:gd name="T23" fmla="*/ 35 h 211"/>
                    <a:gd name="T24" fmla="*/ 50 w 101"/>
                    <a:gd name="T25" fmla="*/ 28 h 211"/>
                    <a:gd name="T26" fmla="*/ 85 w 101"/>
                    <a:gd name="T27" fmla="*/ 35 h 211"/>
                    <a:gd name="T28" fmla="*/ 86 w 101"/>
                    <a:gd name="T29" fmla="*/ 39 h 211"/>
                    <a:gd name="T30" fmla="*/ 84 w 101"/>
                    <a:gd name="T31" fmla="*/ 40 h 211"/>
                    <a:gd name="T32" fmla="*/ 82 w 101"/>
                    <a:gd name="T33" fmla="*/ 40 h 211"/>
                    <a:gd name="T34" fmla="*/ 75 w 101"/>
                    <a:gd name="T35" fmla="*/ 37 h 211"/>
                    <a:gd name="T36" fmla="*/ 50 w 101"/>
                    <a:gd name="T37" fmla="*/ 34 h 211"/>
                    <a:gd name="T38" fmla="*/ 25 w 101"/>
                    <a:gd name="T39" fmla="*/ 37 h 211"/>
                    <a:gd name="T40" fmla="*/ 19 w 101"/>
                    <a:gd name="T41" fmla="*/ 40 h 211"/>
                    <a:gd name="T42" fmla="*/ 15 w 101"/>
                    <a:gd name="T43" fmla="*/ 39 h 211"/>
                    <a:gd name="T44" fmla="*/ 16 w 101"/>
                    <a:gd name="T45" fmla="*/ 35 h 211"/>
                    <a:gd name="T46" fmla="*/ 16 w 101"/>
                    <a:gd name="T47" fmla="*/ 63 h 211"/>
                    <a:gd name="T48" fmla="*/ 50 w 101"/>
                    <a:gd name="T49" fmla="*/ 57 h 211"/>
                    <a:gd name="T50" fmla="*/ 85 w 101"/>
                    <a:gd name="T51" fmla="*/ 63 h 211"/>
                    <a:gd name="T52" fmla="*/ 86 w 101"/>
                    <a:gd name="T53" fmla="*/ 67 h 211"/>
                    <a:gd name="T54" fmla="*/ 84 w 101"/>
                    <a:gd name="T55" fmla="*/ 69 h 211"/>
                    <a:gd name="T56" fmla="*/ 82 w 101"/>
                    <a:gd name="T57" fmla="*/ 68 h 211"/>
                    <a:gd name="T58" fmla="*/ 75 w 101"/>
                    <a:gd name="T59" fmla="*/ 66 h 211"/>
                    <a:gd name="T60" fmla="*/ 50 w 101"/>
                    <a:gd name="T61" fmla="*/ 63 h 211"/>
                    <a:gd name="T62" fmla="*/ 25 w 101"/>
                    <a:gd name="T63" fmla="*/ 66 h 211"/>
                    <a:gd name="T64" fmla="*/ 19 w 101"/>
                    <a:gd name="T65" fmla="*/ 68 h 211"/>
                    <a:gd name="T66" fmla="*/ 15 w 101"/>
                    <a:gd name="T67" fmla="*/ 67 h 211"/>
                    <a:gd name="T68" fmla="*/ 16 w 101"/>
                    <a:gd name="T69" fmla="*/ 63 h 211"/>
                    <a:gd name="T70" fmla="*/ 16 w 101"/>
                    <a:gd name="T71" fmla="*/ 92 h 211"/>
                    <a:gd name="T72" fmla="*/ 50 w 101"/>
                    <a:gd name="T73" fmla="*/ 85 h 211"/>
                    <a:gd name="T74" fmla="*/ 85 w 101"/>
                    <a:gd name="T75" fmla="*/ 92 h 211"/>
                    <a:gd name="T76" fmla="*/ 86 w 101"/>
                    <a:gd name="T77" fmla="*/ 96 h 211"/>
                    <a:gd name="T78" fmla="*/ 84 w 101"/>
                    <a:gd name="T79" fmla="*/ 97 h 211"/>
                    <a:gd name="T80" fmla="*/ 82 w 101"/>
                    <a:gd name="T81" fmla="*/ 97 h 211"/>
                    <a:gd name="T82" fmla="*/ 75 w 101"/>
                    <a:gd name="T83" fmla="*/ 94 h 211"/>
                    <a:gd name="T84" fmla="*/ 50 w 101"/>
                    <a:gd name="T85" fmla="*/ 91 h 211"/>
                    <a:gd name="T86" fmla="*/ 25 w 101"/>
                    <a:gd name="T87" fmla="*/ 94 h 211"/>
                    <a:gd name="T88" fmla="*/ 19 w 101"/>
                    <a:gd name="T89" fmla="*/ 97 h 211"/>
                    <a:gd name="T90" fmla="*/ 15 w 101"/>
                    <a:gd name="T91" fmla="*/ 96 h 211"/>
                    <a:gd name="T92" fmla="*/ 16 w 101"/>
                    <a:gd name="T93" fmla="*/ 92 h 2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01" h="211">
                      <a:moveTo>
                        <a:pt x="2" y="205"/>
                      </a:moveTo>
                      <a:cubicBezTo>
                        <a:pt x="8" y="187"/>
                        <a:pt x="27" y="181"/>
                        <a:pt x="50" y="181"/>
                      </a:cubicBezTo>
                      <a:cubicBezTo>
                        <a:pt x="74" y="181"/>
                        <a:pt x="93" y="187"/>
                        <a:pt x="99" y="205"/>
                      </a:cubicBezTo>
                      <a:cubicBezTo>
                        <a:pt x="101" y="211"/>
                        <a:pt x="100" y="211"/>
                        <a:pt x="100" y="205"/>
                      </a:cubicBezTo>
                      <a:cubicBezTo>
                        <a:pt x="100" y="172"/>
                        <a:pt x="100" y="78"/>
                        <a:pt x="100" y="45"/>
                      </a:cubicBezTo>
                      <a:cubicBezTo>
                        <a:pt x="100" y="39"/>
                        <a:pt x="101" y="28"/>
                        <a:pt x="98" y="22"/>
                      </a:cubicBezTo>
                      <a:cubicBezTo>
                        <a:pt x="92" y="5"/>
                        <a:pt x="73" y="0"/>
                        <a:pt x="50" y="0"/>
                      </a:cubicBezTo>
                      <a:cubicBezTo>
                        <a:pt x="28" y="0"/>
                        <a:pt x="8" y="5"/>
                        <a:pt x="2" y="22"/>
                      </a:cubicBezTo>
                      <a:cubicBezTo>
                        <a:pt x="0" y="28"/>
                        <a:pt x="0" y="39"/>
                        <a:pt x="0" y="45"/>
                      </a:cubicBezTo>
                      <a:cubicBezTo>
                        <a:pt x="0" y="78"/>
                        <a:pt x="0" y="172"/>
                        <a:pt x="0" y="205"/>
                      </a:cubicBezTo>
                      <a:cubicBezTo>
                        <a:pt x="0" y="211"/>
                        <a:pt x="0" y="211"/>
                        <a:pt x="2" y="205"/>
                      </a:cubicBezTo>
                      <a:moveTo>
                        <a:pt x="16" y="35"/>
                      </a:moveTo>
                      <a:cubicBezTo>
                        <a:pt x="24" y="30"/>
                        <a:pt x="36" y="28"/>
                        <a:pt x="50" y="28"/>
                      </a:cubicBezTo>
                      <a:cubicBezTo>
                        <a:pt x="65" y="28"/>
                        <a:pt x="76" y="30"/>
                        <a:pt x="85" y="35"/>
                      </a:cubicBezTo>
                      <a:cubicBezTo>
                        <a:pt x="86" y="35"/>
                        <a:pt x="87" y="37"/>
                        <a:pt x="86" y="39"/>
                      </a:cubicBezTo>
                      <a:cubicBezTo>
                        <a:pt x="86" y="40"/>
                        <a:pt x="85" y="40"/>
                        <a:pt x="84" y="40"/>
                      </a:cubicBezTo>
                      <a:cubicBezTo>
                        <a:pt x="83" y="40"/>
                        <a:pt x="83" y="40"/>
                        <a:pt x="82" y="40"/>
                      </a:cubicBezTo>
                      <a:cubicBezTo>
                        <a:pt x="80" y="39"/>
                        <a:pt x="78" y="38"/>
                        <a:pt x="75" y="37"/>
                      </a:cubicBezTo>
                      <a:cubicBezTo>
                        <a:pt x="69" y="35"/>
                        <a:pt x="61" y="34"/>
                        <a:pt x="50" y="34"/>
                      </a:cubicBezTo>
                      <a:cubicBezTo>
                        <a:pt x="40" y="34"/>
                        <a:pt x="32" y="35"/>
                        <a:pt x="25" y="37"/>
                      </a:cubicBezTo>
                      <a:cubicBezTo>
                        <a:pt x="23" y="38"/>
                        <a:pt x="21" y="39"/>
                        <a:pt x="19" y="40"/>
                      </a:cubicBezTo>
                      <a:cubicBezTo>
                        <a:pt x="17" y="41"/>
                        <a:pt x="15" y="40"/>
                        <a:pt x="15" y="39"/>
                      </a:cubicBezTo>
                      <a:cubicBezTo>
                        <a:pt x="14" y="37"/>
                        <a:pt x="15" y="35"/>
                        <a:pt x="16" y="35"/>
                      </a:cubicBezTo>
                      <a:moveTo>
                        <a:pt x="16" y="63"/>
                      </a:moveTo>
                      <a:cubicBezTo>
                        <a:pt x="24" y="59"/>
                        <a:pt x="36" y="57"/>
                        <a:pt x="50" y="57"/>
                      </a:cubicBezTo>
                      <a:cubicBezTo>
                        <a:pt x="65" y="57"/>
                        <a:pt x="76" y="59"/>
                        <a:pt x="85" y="63"/>
                      </a:cubicBezTo>
                      <a:cubicBezTo>
                        <a:pt x="86" y="64"/>
                        <a:pt x="87" y="66"/>
                        <a:pt x="86" y="67"/>
                      </a:cubicBezTo>
                      <a:cubicBezTo>
                        <a:pt x="86" y="68"/>
                        <a:pt x="85" y="69"/>
                        <a:pt x="84" y="69"/>
                      </a:cubicBezTo>
                      <a:cubicBezTo>
                        <a:pt x="83" y="69"/>
                        <a:pt x="83" y="69"/>
                        <a:pt x="82" y="68"/>
                      </a:cubicBezTo>
                      <a:cubicBezTo>
                        <a:pt x="80" y="67"/>
                        <a:pt x="78" y="66"/>
                        <a:pt x="75" y="66"/>
                      </a:cubicBezTo>
                      <a:cubicBezTo>
                        <a:pt x="69" y="64"/>
                        <a:pt x="61" y="63"/>
                        <a:pt x="50" y="63"/>
                      </a:cubicBezTo>
                      <a:cubicBezTo>
                        <a:pt x="40" y="63"/>
                        <a:pt x="32" y="64"/>
                        <a:pt x="25" y="66"/>
                      </a:cubicBezTo>
                      <a:cubicBezTo>
                        <a:pt x="23" y="66"/>
                        <a:pt x="21" y="67"/>
                        <a:pt x="19" y="68"/>
                      </a:cubicBezTo>
                      <a:cubicBezTo>
                        <a:pt x="17" y="69"/>
                        <a:pt x="15" y="69"/>
                        <a:pt x="15" y="67"/>
                      </a:cubicBezTo>
                      <a:cubicBezTo>
                        <a:pt x="14" y="66"/>
                        <a:pt x="15" y="64"/>
                        <a:pt x="16" y="63"/>
                      </a:cubicBezTo>
                      <a:moveTo>
                        <a:pt x="16" y="92"/>
                      </a:moveTo>
                      <a:cubicBezTo>
                        <a:pt x="24" y="87"/>
                        <a:pt x="36" y="85"/>
                        <a:pt x="50" y="85"/>
                      </a:cubicBezTo>
                      <a:cubicBezTo>
                        <a:pt x="65" y="85"/>
                        <a:pt x="76" y="87"/>
                        <a:pt x="85" y="92"/>
                      </a:cubicBezTo>
                      <a:cubicBezTo>
                        <a:pt x="86" y="92"/>
                        <a:pt x="87" y="94"/>
                        <a:pt x="86" y="96"/>
                      </a:cubicBezTo>
                      <a:cubicBezTo>
                        <a:pt x="86" y="97"/>
                        <a:pt x="85" y="97"/>
                        <a:pt x="84" y="97"/>
                      </a:cubicBezTo>
                      <a:cubicBezTo>
                        <a:pt x="83" y="97"/>
                        <a:pt x="83" y="97"/>
                        <a:pt x="82" y="97"/>
                      </a:cubicBezTo>
                      <a:cubicBezTo>
                        <a:pt x="80" y="96"/>
                        <a:pt x="78" y="95"/>
                        <a:pt x="75" y="94"/>
                      </a:cubicBezTo>
                      <a:cubicBezTo>
                        <a:pt x="69" y="92"/>
                        <a:pt x="61" y="91"/>
                        <a:pt x="50" y="91"/>
                      </a:cubicBezTo>
                      <a:cubicBezTo>
                        <a:pt x="40" y="91"/>
                        <a:pt x="32" y="92"/>
                        <a:pt x="25" y="94"/>
                      </a:cubicBezTo>
                      <a:cubicBezTo>
                        <a:pt x="23" y="95"/>
                        <a:pt x="21" y="96"/>
                        <a:pt x="19" y="97"/>
                      </a:cubicBezTo>
                      <a:cubicBezTo>
                        <a:pt x="17" y="98"/>
                        <a:pt x="15" y="97"/>
                        <a:pt x="15" y="96"/>
                      </a:cubicBezTo>
                      <a:cubicBezTo>
                        <a:pt x="14" y="94"/>
                        <a:pt x="15" y="92"/>
                        <a:pt x="16" y="92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2" name="Freeform 21"/>
                <p:cNvSpPr>
                  <a:spLocks noEditPoints="1"/>
                </p:cNvSpPr>
                <p:nvPr/>
              </p:nvSpPr>
              <p:spPr bwMode="auto">
                <a:xfrm>
                  <a:off x="3852" y="1908"/>
                  <a:ext cx="242" cy="506"/>
                </a:xfrm>
                <a:custGeom>
                  <a:avLst/>
                  <a:gdLst>
                    <a:gd name="T0" fmla="*/ 99 w 101"/>
                    <a:gd name="T1" fmla="*/ 205 h 211"/>
                    <a:gd name="T2" fmla="*/ 101 w 101"/>
                    <a:gd name="T3" fmla="*/ 205 h 211"/>
                    <a:gd name="T4" fmla="*/ 101 w 101"/>
                    <a:gd name="T5" fmla="*/ 45 h 211"/>
                    <a:gd name="T6" fmla="*/ 99 w 101"/>
                    <a:gd name="T7" fmla="*/ 22 h 211"/>
                    <a:gd name="T8" fmla="*/ 51 w 101"/>
                    <a:gd name="T9" fmla="*/ 0 h 211"/>
                    <a:gd name="T10" fmla="*/ 3 w 101"/>
                    <a:gd name="T11" fmla="*/ 22 h 211"/>
                    <a:gd name="T12" fmla="*/ 1 w 101"/>
                    <a:gd name="T13" fmla="*/ 45 h 211"/>
                    <a:gd name="T14" fmla="*/ 1 w 101"/>
                    <a:gd name="T15" fmla="*/ 205 h 211"/>
                    <a:gd name="T16" fmla="*/ 2 w 101"/>
                    <a:gd name="T17" fmla="*/ 205 h 211"/>
                    <a:gd name="T18" fmla="*/ 51 w 101"/>
                    <a:gd name="T19" fmla="*/ 181 h 211"/>
                    <a:gd name="T20" fmla="*/ 99 w 101"/>
                    <a:gd name="T21" fmla="*/ 205 h 211"/>
                    <a:gd name="T22" fmla="*/ 86 w 101"/>
                    <a:gd name="T23" fmla="*/ 96 h 211"/>
                    <a:gd name="T24" fmla="*/ 84 w 101"/>
                    <a:gd name="T25" fmla="*/ 97 h 211"/>
                    <a:gd name="T26" fmla="*/ 82 w 101"/>
                    <a:gd name="T27" fmla="*/ 97 h 211"/>
                    <a:gd name="T28" fmla="*/ 76 w 101"/>
                    <a:gd name="T29" fmla="*/ 94 h 211"/>
                    <a:gd name="T30" fmla="*/ 51 w 101"/>
                    <a:gd name="T31" fmla="*/ 91 h 211"/>
                    <a:gd name="T32" fmla="*/ 26 w 101"/>
                    <a:gd name="T33" fmla="*/ 94 h 211"/>
                    <a:gd name="T34" fmla="*/ 19 w 101"/>
                    <a:gd name="T35" fmla="*/ 97 h 211"/>
                    <a:gd name="T36" fmla="*/ 15 w 101"/>
                    <a:gd name="T37" fmla="*/ 96 h 211"/>
                    <a:gd name="T38" fmla="*/ 16 w 101"/>
                    <a:gd name="T39" fmla="*/ 92 h 211"/>
                    <a:gd name="T40" fmla="*/ 51 w 101"/>
                    <a:gd name="T41" fmla="*/ 85 h 211"/>
                    <a:gd name="T42" fmla="*/ 85 w 101"/>
                    <a:gd name="T43" fmla="*/ 92 h 211"/>
                    <a:gd name="T44" fmla="*/ 86 w 101"/>
                    <a:gd name="T45" fmla="*/ 96 h 211"/>
                    <a:gd name="T46" fmla="*/ 86 w 101"/>
                    <a:gd name="T47" fmla="*/ 67 h 211"/>
                    <a:gd name="T48" fmla="*/ 84 w 101"/>
                    <a:gd name="T49" fmla="*/ 69 h 211"/>
                    <a:gd name="T50" fmla="*/ 82 w 101"/>
                    <a:gd name="T51" fmla="*/ 68 h 211"/>
                    <a:gd name="T52" fmla="*/ 76 w 101"/>
                    <a:gd name="T53" fmla="*/ 66 h 211"/>
                    <a:gd name="T54" fmla="*/ 51 w 101"/>
                    <a:gd name="T55" fmla="*/ 63 h 211"/>
                    <a:gd name="T56" fmla="*/ 26 w 101"/>
                    <a:gd name="T57" fmla="*/ 66 h 211"/>
                    <a:gd name="T58" fmla="*/ 19 w 101"/>
                    <a:gd name="T59" fmla="*/ 68 h 211"/>
                    <a:gd name="T60" fmla="*/ 15 w 101"/>
                    <a:gd name="T61" fmla="*/ 67 h 211"/>
                    <a:gd name="T62" fmla="*/ 16 w 101"/>
                    <a:gd name="T63" fmla="*/ 63 h 211"/>
                    <a:gd name="T64" fmla="*/ 51 w 101"/>
                    <a:gd name="T65" fmla="*/ 57 h 211"/>
                    <a:gd name="T66" fmla="*/ 85 w 101"/>
                    <a:gd name="T67" fmla="*/ 63 h 211"/>
                    <a:gd name="T68" fmla="*/ 86 w 101"/>
                    <a:gd name="T69" fmla="*/ 67 h 211"/>
                    <a:gd name="T70" fmla="*/ 86 w 101"/>
                    <a:gd name="T71" fmla="*/ 39 h 211"/>
                    <a:gd name="T72" fmla="*/ 84 w 101"/>
                    <a:gd name="T73" fmla="*/ 40 h 211"/>
                    <a:gd name="T74" fmla="*/ 82 w 101"/>
                    <a:gd name="T75" fmla="*/ 40 h 211"/>
                    <a:gd name="T76" fmla="*/ 76 w 101"/>
                    <a:gd name="T77" fmla="*/ 37 h 211"/>
                    <a:gd name="T78" fmla="*/ 51 w 101"/>
                    <a:gd name="T79" fmla="*/ 34 h 211"/>
                    <a:gd name="T80" fmla="*/ 26 w 101"/>
                    <a:gd name="T81" fmla="*/ 37 h 211"/>
                    <a:gd name="T82" fmla="*/ 19 w 101"/>
                    <a:gd name="T83" fmla="*/ 40 h 211"/>
                    <a:gd name="T84" fmla="*/ 15 w 101"/>
                    <a:gd name="T85" fmla="*/ 39 h 211"/>
                    <a:gd name="T86" fmla="*/ 16 w 101"/>
                    <a:gd name="T87" fmla="*/ 35 h 211"/>
                    <a:gd name="T88" fmla="*/ 51 w 101"/>
                    <a:gd name="T89" fmla="*/ 28 h 211"/>
                    <a:gd name="T90" fmla="*/ 85 w 101"/>
                    <a:gd name="T91" fmla="*/ 35 h 211"/>
                    <a:gd name="T92" fmla="*/ 86 w 101"/>
                    <a:gd name="T93" fmla="*/ 39 h 2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01" h="211">
                      <a:moveTo>
                        <a:pt x="99" y="205"/>
                      </a:moveTo>
                      <a:cubicBezTo>
                        <a:pt x="101" y="211"/>
                        <a:pt x="101" y="211"/>
                        <a:pt x="101" y="205"/>
                      </a:cubicBezTo>
                      <a:cubicBezTo>
                        <a:pt x="101" y="172"/>
                        <a:pt x="101" y="78"/>
                        <a:pt x="101" y="45"/>
                      </a:cubicBezTo>
                      <a:cubicBezTo>
                        <a:pt x="101" y="39"/>
                        <a:pt x="101" y="28"/>
                        <a:pt x="99" y="22"/>
                      </a:cubicBezTo>
                      <a:cubicBezTo>
                        <a:pt x="93" y="5"/>
                        <a:pt x="73" y="0"/>
                        <a:pt x="51" y="0"/>
                      </a:cubicBezTo>
                      <a:cubicBezTo>
                        <a:pt x="28" y="0"/>
                        <a:pt x="9" y="5"/>
                        <a:pt x="3" y="22"/>
                      </a:cubicBezTo>
                      <a:cubicBezTo>
                        <a:pt x="1" y="28"/>
                        <a:pt x="1" y="39"/>
                        <a:pt x="1" y="45"/>
                      </a:cubicBezTo>
                      <a:cubicBezTo>
                        <a:pt x="1" y="78"/>
                        <a:pt x="1" y="172"/>
                        <a:pt x="1" y="205"/>
                      </a:cubicBezTo>
                      <a:cubicBezTo>
                        <a:pt x="1" y="211"/>
                        <a:pt x="0" y="211"/>
                        <a:pt x="2" y="205"/>
                      </a:cubicBezTo>
                      <a:cubicBezTo>
                        <a:pt x="8" y="187"/>
                        <a:pt x="27" y="181"/>
                        <a:pt x="51" y="181"/>
                      </a:cubicBezTo>
                      <a:cubicBezTo>
                        <a:pt x="74" y="181"/>
                        <a:pt x="94" y="187"/>
                        <a:pt x="99" y="205"/>
                      </a:cubicBezTo>
                      <a:moveTo>
                        <a:pt x="86" y="96"/>
                      </a:moveTo>
                      <a:cubicBezTo>
                        <a:pt x="86" y="97"/>
                        <a:pt x="85" y="97"/>
                        <a:pt x="84" y="97"/>
                      </a:cubicBezTo>
                      <a:cubicBezTo>
                        <a:pt x="83" y="97"/>
                        <a:pt x="83" y="97"/>
                        <a:pt x="82" y="97"/>
                      </a:cubicBezTo>
                      <a:cubicBezTo>
                        <a:pt x="80" y="96"/>
                        <a:pt x="78" y="95"/>
                        <a:pt x="76" y="94"/>
                      </a:cubicBezTo>
                      <a:cubicBezTo>
                        <a:pt x="69" y="92"/>
                        <a:pt x="61" y="91"/>
                        <a:pt x="51" y="91"/>
                      </a:cubicBezTo>
                      <a:cubicBezTo>
                        <a:pt x="41" y="91"/>
                        <a:pt x="32" y="92"/>
                        <a:pt x="26" y="94"/>
                      </a:cubicBezTo>
                      <a:cubicBezTo>
                        <a:pt x="23" y="95"/>
                        <a:pt x="21" y="96"/>
                        <a:pt x="19" y="97"/>
                      </a:cubicBezTo>
                      <a:cubicBezTo>
                        <a:pt x="17" y="98"/>
                        <a:pt x="16" y="97"/>
                        <a:pt x="15" y="96"/>
                      </a:cubicBezTo>
                      <a:cubicBezTo>
                        <a:pt x="14" y="94"/>
                        <a:pt x="15" y="92"/>
                        <a:pt x="16" y="92"/>
                      </a:cubicBezTo>
                      <a:cubicBezTo>
                        <a:pt x="25" y="87"/>
                        <a:pt x="36" y="85"/>
                        <a:pt x="51" y="85"/>
                      </a:cubicBezTo>
                      <a:cubicBezTo>
                        <a:pt x="65" y="85"/>
                        <a:pt x="77" y="87"/>
                        <a:pt x="85" y="92"/>
                      </a:cubicBezTo>
                      <a:cubicBezTo>
                        <a:pt x="87" y="92"/>
                        <a:pt x="87" y="94"/>
                        <a:pt x="86" y="96"/>
                      </a:cubicBezTo>
                      <a:moveTo>
                        <a:pt x="86" y="67"/>
                      </a:moveTo>
                      <a:cubicBezTo>
                        <a:pt x="86" y="68"/>
                        <a:pt x="85" y="69"/>
                        <a:pt x="84" y="69"/>
                      </a:cubicBezTo>
                      <a:cubicBezTo>
                        <a:pt x="83" y="69"/>
                        <a:pt x="83" y="69"/>
                        <a:pt x="82" y="68"/>
                      </a:cubicBezTo>
                      <a:cubicBezTo>
                        <a:pt x="80" y="67"/>
                        <a:pt x="78" y="66"/>
                        <a:pt x="76" y="66"/>
                      </a:cubicBezTo>
                      <a:cubicBezTo>
                        <a:pt x="69" y="64"/>
                        <a:pt x="61" y="63"/>
                        <a:pt x="51" y="63"/>
                      </a:cubicBezTo>
                      <a:cubicBezTo>
                        <a:pt x="41" y="63"/>
                        <a:pt x="32" y="64"/>
                        <a:pt x="26" y="66"/>
                      </a:cubicBezTo>
                      <a:cubicBezTo>
                        <a:pt x="23" y="66"/>
                        <a:pt x="21" y="67"/>
                        <a:pt x="19" y="68"/>
                      </a:cubicBezTo>
                      <a:cubicBezTo>
                        <a:pt x="17" y="69"/>
                        <a:pt x="16" y="69"/>
                        <a:pt x="15" y="67"/>
                      </a:cubicBezTo>
                      <a:cubicBezTo>
                        <a:pt x="14" y="66"/>
                        <a:pt x="15" y="64"/>
                        <a:pt x="16" y="63"/>
                      </a:cubicBezTo>
                      <a:cubicBezTo>
                        <a:pt x="25" y="59"/>
                        <a:pt x="36" y="57"/>
                        <a:pt x="51" y="57"/>
                      </a:cubicBezTo>
                      <a:cubicBezTo>
                        <a:pt x="65" y="57"/>
                        <a:pt x="77" y="59"/>
                        <a:pt x="85" y="63"/>
                      </a:cubicBezTo>
                      <a:cubicBezTo>
                        <a:pt x="87" y="64"/>
                        <a:pt x="87" y="66"/>
                        <a:pt x="86" y="67"/>
                      </a:cubicBezTo>
                      <a:moveTo>
                        <a:pt x="86" y="39"/>
                      </a:moveTo>
                      <a:cubicBezTo>
                        <a:pt x="86" y="40"/>
                        <a:pt x="85" y="40"/>
                        <a:pt x="84" y="40"/>
                      </a:cubicBezTo>
                      <a:cubicBezTo>
                        <a:pt x="83" y="40"/>
                        <a:pt x="83" y="40"/>
                        <a:pt x="82" y="40"/>
                      </a:cubicBezTo>
                      <a:cubicBezTo>
                        <a:pt x="80" y="39"/>
                        <a:pt x="78" y="38"/>
                        <a:pt x="76" y="37"/>
                      </a:cubicBezTo>
                      <a:cubicBezTo>
                        <a:pt x="69" y="35"/>
                        <a:pt x="61" y="34"/>
                        <a:pt x="51" y="34"/>
                      </a:cubicBezTo>
                      <a:cubicBezTo>
                        <a:pt x="41" y="34"/>
                        <a:pt x="32" y="35"/>
                        <a:pt x="26" y="37"/>
                      </a:cubicBezTo>
                      <a:cubicBezTo>
                        <a:pt x="23" y="38"/>
                        <a:pt x="21" y="39"/>
                        <a:pt x="19" y="40"/>
                      </a:cubicBezTo>
                      <a:cubicBezTo>
                        <a:pt x="17" y="41"/>
                        <a:pt x="16" y="40"/>
                        <a:pt x="15" y="39"/>
                      </a:cubicBezTo>
                      <a:cubicBezTo>
                        <a:pt x="14" y="37"/>
                        <a:pt x="15" y="35"/>
                        <a:pt x="16" y="35"/>
                      </a:cubicBezTo>
                      <a:cubicBezTo>
                        <a:pt x="25" y="30"/>
                        <a:pt x="36" y="28"/>
                        <a:pt x="51" y="28"/>
                      </a:cubicBezTo>
                      <a:cubicBezTo>
                        <a:pt x="65" y="28"/>
                        <a:pt x="77" y="30"/>
                        <a:pt x="85" y="35"/>
                      </a:cubicBezTo>
                      <a:cubicBezTo>
                        <a:pt x="87" y="35"/>
                        <a:pt x="87" y="37"/>
                        <a:pt x="86" y="39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  <p:pic>
        <p:nvPicPr>
          <p:cNvPr id="52" name="Picture 51" descr="59-南开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5607" y="6141125"/>
            <a:ext cx="499384" cy="499383"/>
          </a:xfrm>
          <a:prstGeom prst="rect">
            <a:avLst/>
          </a:prstGeom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35383EC3-0123-0AFF-6AC2-A64966C8FD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135" y="4688611"/>
            <a:ext cx="3155209" cy="1712187"/>
          </a:xfrm>
          <a:prstGeom prst="rect">
            <a:avLst/>
          </a:prstGeom>
        </p:spPr>
      </p:pic>
      <p:sp>
        <p:nvSpPr>
          <p:cNvPr id="49" name="AutoShape 2" descr="性能测试必备知识（1）- 进程和线程的区别 - 小菠萝测试笔记 - 博客园">
            <a:extLst>
              <a:ext uri="{FF2B5EF4-FFF2-40B4-BE49-F238E27FC236}">
                <a16:creationId xmlns:a16="http://schemas.microsoft.com/office/drawing/2014/main" id="{575BC496-33C0-A39B-09AE-6AA2C897BA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6D9FAB98-BD05-00F4-70A3-FB7597010B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1681" y="4712698"/>
            <a:ext cx="2986220" cy="1636128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3" name="图片 52">
            <a:extLst>
              <a:ext uri="{FF2B5EF4-FFF2-40B4-BE49-F238E27FC236}">
                <a16:creationId xmlns:a16="http://schemas.microsoft.com/office/drawing/2014/main" id="{775C97A6-4ED7-6F8C-6A74-E3E7A84274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6238" y="4728041"/>
            <a:ext cx="2085714" cy="15714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</p:grpSpPr>
        <p:sp>
          <p:nvSpPr>
            <p:cNvPr id="5" name="圆角矩形 4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6B15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01167" y="144940"/>
            <a:ext cx="3467608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如何快速恢复中断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4224581" y="217491"/>
            <a:ext cx="10096500" cy="439541"/>
            <a:chOff x="2584397" y="217491"/>
            <a:chExt cx="10096500" cy="439541"/>
          </a:xfrm>
        </p:grpSpPr>
        <p:sp>
          <p:nvSpPr>
            <p:cNvPr id="4" name="圆角矩形 3"/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6B15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/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6B15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2609797" y="239783"/>
              <a:ext cx="3456241" cy="276995"/>
            </a:xfrm>
            <a:prstGeom prst="rect">
              <a:avLst/>
            </a:prstGeom>
          </p:spPr>
          <p:txBody>
            <a:bodyPr wrap="square" lIns="91436" tIns="45718" rIns="91436" bIns="45718">
              <a:no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R</a:t>
              </a:r>
              <a:r>
                <a:rPr lang="en-US" altLang="zh-CN" sz="1600" dirty="0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ecover from an interruption</a:t>
              </a:r>
              <a:endParaRPr sz="1600" dirty="0"/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995204" y="2506515"/>
            <a:ext cx="2791141" cy="40010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/>
            <a:r>
              <a:rPr lang="zh-CN" altLang="en-US" sz="2000" b="1" dirty="0">
                <a:solidFill>
                  <a:srgbClr val="6B15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第二种方案</a:t>
            </a:r>
            <a:r>
              <a:rPr lang="en-US" altLang="zh-CN" sz="2000" b="1" dirty="0">
                <a:solidFill>
                  <a:srgbClr val="6B15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000" b="1" dirty="0">
                <a:solidFill>
                  <a:srgbClr val="6B15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全保留</a:t>
            </a:r>
          </a:p>
        </p:txBody>
      </p:sp>
      <p:cxnSp>
        <p:nvCxnSpPr>
          <p:cNvPr id="26" name="直接连接符 25"/>
          <p:cNvCxnSpPr/>
          <p:nvPr/>
        </p:nvCxnSpPr>
        <p:spPr>
          <a:xfrm>
            <a:off x="1052286" y="4332836"/>
            <a:ext cx="100584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组合 14"/>
          <p:cNvGrpSpPr/>
          <p:nvPr/>
        </p:nvGrpSpPr>
        <p:grpSpPr>
          <a:xfrm>
            <a:off x="853002" y="4762562"/>
            <a:ext cx="3371579" cy="820376"/>
            <a:chOff x="1050901" y="5107864"/>
            <a:chExt cx="3371579" cy="820376"/>
          </a:xfrm>
        </p:grpSpPr>
        <p:sp>
          <p:nvSpPr>
            <p:cNvPr id="30" name="矩形 29"/>
            <p:cNvSpPr/>
            <p:nvPr/>
          </p:nvSpPr>
          <p:spPr>
            <a:xfrm>
              <a:off x="1942175" y="5107864"/>
              <a:ext cx="2480305" cy="396579"/>
            </a:xfrm>
            <a:prstGeom prst="rect">
              <a:avLst/>
            </a:prstGeom>
          </p:spPr>
          <p:txBody>
            <a:bodyPr wrap="square" lIns="91436" tIns="45718" rIns="91436" bIns="45718">
              <a:spAutoFit/>
            </a:bodyPr>
            <a:lstStyle/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安全？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1050901" y="5208240"/>
              <a:ext cx="720000" cy="720000"/>
              <a:chOff x="1050901" y="5208240"/>
              <a:chExt cx="720000" cy="720000"/>
            </a:xfrm>
          </p:grpSpPr>
          <p:sp>
            <p:nvSpPr>
              <p:cNvPr id="27" name="矩形 26"/>
              <p:cNvSpPr>
                <a:spLocks noChangeAspect="1"/>
              </p:cNvSpPr>
              <p:nvPr/>
            </p:nvSpPr>
            <p:spPr>
              <a:xfrm>
                <a:off x="1050901" y="5208240"/>
                <a:ext cx="720000" cy="720000"/>
              </a:xfrm>
              <a:prstGeom prst="rect">
                <a:avLst/>
              </a:prstGeom>
              <a:solidFill>
                <a:srgbClr val="6B155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9" name="组合 18"/>
              <p:cNvGrpSpPr/>
              <p:nvPr/>
            </p:nvGrpSpPr>
            <p:grpSpPr>
              <a:xfrm>
                <a:off x="1198771" y="5355768"/>
                <a:ext cx="440632" cy="398667"/>
                <a:chOff x="5632450" y="3006725"/>
                <a:chExt cx="933450" cy="844551"/>
              </a:xfrm>
            </p:grpSpPr>
            <p:sp>
              <p:nvSpPr>
                <p:cNvPr id="16" name="Freeform 9"/>
                <p:cNvSpPr/>
                <p:nvPr/>
              </p:nvSpPr>
              <p:spPr bwMode="auto">
                <a:xfrm>
                  <a:off x="5632450" y="3006725"/>
                  <a:ext cx="933450" cy="700088"/>
                </a:xfrm>
                <a:custGeom>
                  <a:avLst/>
                  <a:gdLst>
                    <a:gd name="T0" fmla="*/ 123 w 246"/>
                    <a:gd name="T1" fmla="*/ 0 h 184"/>
                    <a:gd name="T2" fmla="*/ 0 w 246"/>
                    <a:gd name="T3" fmla="*/ 124 h 184"/>
                    <a:gd name="T4" fmla="*/ 15 w 246"/>
                    <a:gd name="T5" fmla="*/ 183 h 184"/>
                    <a:gd name="T6" fmla="*/ 15 w 246"/>
                    <a:gd name="T7" fmla="*/ 150 h 184"/>
                    <a:gd name="T8" fmla="*/ 21 w 246"/>
                    <a:gd name="T9" fmla="*/ 134 h 184"/>
                    <a:gd name="T10" fmla="*/ 20 w 246"/>
                    <a:gd name="T11" fmla="*/ 124 h 184"/>
                    <a:gd name="T12" fmla="*/ 123 w 246"/>
                    <a:gd name="T13" fmla="*/ 21 h 184"/>
                    <a:gd name="T14" fmla="*/ 226 w 246"/>
                    <a:gd name="T15" fmla="*/ 124 h 184"/>
                    <a:gd name="T16" fmla="*/ 225 w 246"/>
                    <a:gd name="T17" fmla="*/ 135 h 184"/>
                    <a:gd name="T18" fmla="*/ 230 w 246"/>
                    <a:gd name="T19" fmla="*/ 150 h 184"/>
                    <a:gd name="T20" fmla="*/ 230 w 246"/>
                    <a:gd name="T21" fmla="*/ 184 h 184"/>
                    <a:gd name="T22" fmla="*/ 246 w 246"/>
                    <a:gd name="T23" fmla="*/ 124 h 184"/>
                    <a:gd name="T24" fmla="*/ 123 w 246"/>
                    <a:gd name="T25" fmla="*/ 0 h 1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246" h="184">
                      <a:moveTo>
                        <a:pt x="123" y="0"/>
                      </a:moveTo>
                      <a:cubicBezTo>
                        <a:pt x="55" y="1"/>
                        <a:pt x="0" y="56"/>
                        <a:pt x="0" y="124"/>
                      </a:cubicBezTo>
                      <a:cubicBezTo>
                        <a:pt x="0" y="144"/>
                        <a:pt x="5" y="165"/>
                        <a:pt x="15" y="183"/>
                      </a:cubicBezTo>
                      <a:cubicBezTo>
                        <a:pt x="15" y="150"/>
                        <a:pt x="15" y="150"/>
                        <a:pt x="15" y="150"/>
                      </a:cubicBezTo>
                      <a:cubicBezTo>
                        <a:pt x="15" y="144"/>
                        <a:pt x="17" y="139"/>
                        <a:pt x="21" y="134"/>
                      </a:cubicBezTo>
                      <a:cubicBezTo>
                        <a:pt x="20" y="130"/>
                        <a:pt x="20" y="127"/>
                        <a:pt x="20" y="124"/>
                      </a:cubicBezTo>
                      <a:cubicBezTo>
                        <a:pt x="20" y="67"/>
                        <a:pt x="66" y="21"/>
                        <a:pt x="123" y="21"/>
                      </a:cubicBezTo>
                      <a:cubicBezTo>
                        <a:pt x="180" y="21"/>
                        <a:pt x="226" y="67"/>
                        <a:pt x="226" y="124"/>
                      </a:cubicBezTo>
                      <a:cubicBezTo>
                        <a:pt x="226" y="128"/>
                        <a:pt x="225" y="131"/>
                        <a:pt x="225" y="135"/>
                      </a:cubicBezTo>
                      <a:cubicBezTo>
                        <a:pt x="228" y="139"/>
                        <a:pt x="230" y="145"/>
                        <a:pt x="230" y="150"/>
                      </a:cubicBezTo>
                      <a:cubicBezTo>
                        <a:pt x="230" y="184"/>
                        <a:pt x="230" y="184"/>
                        <a:pt x="230" y="184"/>
                      </a:cubicBezTo>
                      <a:cubicBezTo>
                        <a:pt x="241" y="166"/>
                        <a:pt x="246" y="145"/>
                        <a:pt x="246" y="124"/>
                      </a:cubicBezTo>
                      <a:cubicBezTo>
                        <a:pt x="246" y="56"/>
                        <a:pt x="191" y="1"/>
                        <a:pt x="123" y="0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Freeform 10"/>
                <p:cNvSpPr/>
                <p:nvPr/>
              </p:nvSpPr>
              <p:spPr bwMode="auto">
                <a:xfrm>
                  <a:off x="5716588" y="3478213"/>
                  <a:ext cx="204788" cy="373063"/>
                </a:xfrm>
                <a:custGeom>
                  <a:avLst/>
                  <a:gdLst>
                    <a:gd name="T0" fmla="*/ 0 w 54"/>
                    <a:gd name="T1" fmla="*/ 21 h 98"/>
                    <a:gd name="T2" fmla="*/ 0 w 54"/>
                    <a:gd name="T3" fmla="*/ 26 h 98"/>
                    <a:gd name="T4" fmla="*/ 0 w 54"/>
                    <a:gd name="T5" fmla="*/ 58 h 98"/>
                    <a:gd name="T6" fmla="*/ 0 w 54"/>
                    <a:gd name="T7" fmla="*/ 72 h 98"/>
                    <a:gd name="T8" fmla="*/ 38 w 54"/>
                    <a:gd name="T9" fmla="*/ 98 h 98"/>
                    <a:gd name="T10" fmla="*/ 54 w 54"/>
                    <a:gd name="T11" fmla="*/ 98 h 98"/>
                    <a:gd name="T12" fmla="*/ 54 w 54"/>
                    <a:gd name="T13" fmla="*/ 0 h 98"/>
                    <a:gd name="T14" fmla="*/ 38 w 54"/>
                    <a:gd name="T15" fmla="*/ 0 h 98"/>
                    <a:gd name="T16" fmla="*/ 0 w 54"/>
                    <a:gd name="T17" fmla="*/ 21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4" h="98">
                      <a:moveTo>
                        <a:pt x="0" y="21"/>
                      </a:moveTo>
                      <a:cubicBezTo>
                        <a:pt x="0" y="23"/>
                        <a:pt x="0" y="24"/>
                        <a:pt x="0" y="26"/>
                      </a:cubicBezTo>
                      <a:cubicBezTo>
                        <a:pt x="0" y="58"/>
                        <a:pt x="0" y="58"/>
                        <a:pt x="0" y="58"/>
                      </a:cubicBezTo>
                      <a:cubicBezTo>
                        <a:pt x="0" y="72"/>
                        <a:pt x="0" y="72"/>
                        <a:pt x="0" y="72"/>
                      </a:cubicBezTo>
                      <a:cubicBezTo>
                        <a:pt x="0" y="86"/>
                        <a:pt x="17" y="98"/>
                        <a:pt x="38" y="98"/>
                      </a:cubicBezTo>
                      <a:cubicBezTo>
                        <a:pt x="54" y="98"/>
                        <a:pt x="54" y="98"/>
                        <a:pt x="54" y="98"/>
                      </a:cubicBezTo>
                      <a:cubicBezTo>
                        <a:pt x="54" y="0"/>
                        <a:pt x="54" y="0"/>
                        <a:pt x="54" y="0"/>
                      </a:cubicBezTo>
                      <a:cubicBezTo>
                        <a:pt x="38" y="0"/>
                        <a:pt x="38" y="0"/>
                        <a:pt x="38" y="0"/>
                      </a:cubicBezTo>
                      <a:cubicBezTo>
                        <a:pt x="19" y="0"/>
                        <a:pt x="4" y="9"/>
                        <a:pt x="0" y="21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8" name="Freeform 11"/>
                <p:cNvSpPr/>
                <p:nvPr/>
              </p:nvSpPr>
              <p:spPr bwMode="auto">
                <a:xfrm>
                  <a:off x="6278563" y="3478213"/>
                  <a:ext cx="200025" cy="373063"/>
                </a:xfrm>
                <a:custGeom>
                  <a:avLst/>
                  <a:gdLst>
                    <a:gd name="T0" fmla="*/ 53 w 53"/>
                    <a:gd name="T1" fmla="*/ 72 h 98"/>
                    <a:gd name="T2" fmla="*/ 53 w 53"/>
                    <a:gd name="T3" fmla="*/ 57 h 98"/>
                    <a:gd name="T4" fmla="*/ 53 w 53"/>
                    <a:gd name="T5" fmla="*/ 26 h 98"/>
                    <a:gd name="T6" fmla="*/ 53 w 53"/>
                    <a:gd name="T7" fmla="*/ 23 h 98"/>
                    <a:gd name="T8" fmla="*/ 16 w 53"/>
                    <a:gd name="T9" fmla="*/ 0 h 98"/>
                    <a:gd name="T10" fmla="*/ 0 w 53"/>
                    <a:gd name="T11" fmla="*/ 0 h 98"/>
                    <a:gd name="T12" fmla="*/ 0 w 53"/>
                    <a:gd name="T13" fmla="*/ 98 h 98"/>
                    <a:gd name="T14" fmla="*/ 16 w 53"/>
                    <a:gd name="T15" fmla="*/ 98 h 98"/>
                    <a:gd name="T16" fmla="*/ 53 w 53"/>
                    <a:gd name="T17" fmla="*/ 72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3" h="98">
                      <a:moveTo>
                        <a:pt x="53" y="72"/>
                      </a:moveTo>
                      <a:cubicBezTo>
                        <a:pt x="53" y="57"/>
                        <a:pt x="53" y="57"/>
                        <a:pt x="53" y="57"/>
                      </a:cubicBezTo>
                      <a:cubicBezTo>
                        <a:pt x="53" y="26"/>
                        <a:pt x="53" y="26"/>
                        <a:pt x="53" y="26"/>
                      </a:cubicBezTo>
                      <a:cubicBezTo>
                        <a:pt x="53" y="25"/>
                        <a:pt x="53" y="24"/>
                        <a:pt x="53" y="23"/>
                      </a:cubicBezTo>
                      <a:cubicBezTo>
                        <a:pt x="51" y="10"/>
                        <a:pt x="35" y="0"/>
                        <a:pt x="16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98"/>
                        <a:pt x="0" y="98"/>
                        <a:pt x="0" y="98"/>
                      </a:cubicBezTo>
                      <a:cubicBezTo>
                        <a:pt x="16" y="98"/>
                        <a:pt x="16" y="98"/>
                        <a:pt x="16" y="98"/>
                      </a:cubicBezTo>
                      <a:cubicBezTo>
                        <a:pt x="36" y="98"/>
                        <a:pt x="53" y="86"/>
                        <a:pt x="53" y="72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  <p:grpSp>
        <p:nvGrpSpPr>
          <p:cNvPr id="20" name="组合 19"/>
          <p:cNvGrpSpPr/>
          <p:nvPr/>
        </p:nvGrpSpPr>
        <p:grpSpPr>
          <a:xfrm>
            <a:off x="4386080" y="4669681"/>
            <a:ext cx="4726382" cy="1229705"/>
            <a:chOff x="4638706" y="5084068"/>
            <a:chExt cx="4077715" cy="1229705"/>
          </a:xfrm>
        </p:grpSpPr>
        <p:grpSp>
          <p:nvGrpSpPr>
            <p:cNvPr id="35" name="组合 34"/>
            <p:cNvGrpSpPr/>
            <p:nvPr/>
          </p:nvGrpSpPr>
          <p:grpSpPr>
            <a:xfrm>
              <a:off x="4638706" y="5084068"/>
              <a:ext cx="4077715" cy="1229705"/>
              <a:chOff x="4832503" y="4800965"/>
              <a:chExt cx="4077715" cy="1229705"/>
            </a:xfrm>
          </p:grpSpPr>
          <p:sp>
            <p:nvSpPr>
              <p:cNvPr id="28" name="矩形 27"/>
              <p:cNvSpPr>
                <a:spLocks noChangeAspect="1"/>
              </p:cNvSpPr>
              <p:nvPr/>
            </p:nvSpPr>
            <p:spPr>
              <a:xfrm>
                <a:off x="4832503" y="4925137"/>
                <a:ext cx="720000" cy="720000"/>
              </a:xfrm>
              <a:prstGeom prst="rect">
                <a:avLst/>
              </a:prstGeom>
              <a:solidFill>
                <a:srgbClr val="6B155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矩形 30"/>
              <p:cNvSpPr/>
              <p:nvPr/>
            </p:nvSpPr>
            <p:spPr>
              <a:xfrm>
                <a:off x="5645172" y="4800965"/>
                <a:ext cx="3265046" cy="1229705"/>
              </a:xfrm>
              <a:prstGeom prst="rect">
                <a:avLst/>
              </a:prstGeom>
            </p:spPr>
            <p:txBody>
              <a:bodyPr wrap="square" lIns="91436" tIns="45718" rIns="91436" bIns="45718">
                <a:no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效率？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1" name="Group 14"/>
            <p:cNvGrpSpPr>
              <a:grpSpLocks noChangeAspect="1"/>
            </p:cNvGrpSpPr>
            <p:nvPr/>
          </p:nvGrpSpPr>
          <p:grpSpPr bwMode="auto">
            <a:xfrm>
              <a:off x="4775712" y="5398725"/>
              <a:ext cx="449018" cy="359214"/>
              <a:chOff x="3535" y="1916"/>
              <a:chExt cx="610" cy="488"/>
            </a:xfrm>
          </p:grpSpPr>
          <p:sp>
            <p:nvSpPr>
              <p:cNvPr id="25" name="AutoShape 13"/>
              <p:cNvSpPr>
                <a:spLocks noChangeAspect="1" noChangeArrowheads="1" noTextEdit="1"/>
              </p:cNvSpPr>
              <p:nvPr/>
            </p:nvSpPr>
            <p:spPr bwMode="auto">
              <a:xfrm>
                <a:off x="3535" y="1916"/>
                <a:ext cx="610" cy="4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Freeform 15"/>
              <p:cNvSpPr/>
              <p:nvPr/>
            </p:nvSpPr>
            <p:spPr bwMode="auto">
              <a:xfrm>
                <a:off x="3537" y="2033"/>
                <a:ext cx="436" cy="374"/>
              </a:xfrm>
              <a:custGeom>
                <a:avLst/>
                <a:gdLst>
                  <a:gd name="T0" fmla="*/ 46 w 436"/>
                  <a:gd name="T1" fmla="*/ 374 h 374"/>
                  <a:gd name="T2" fmla="*/ 125 w 436"/>
                  <a:gd name="T3" fmla="*/ 292 h 374"/>
                  <a:gd name="T4" fmla="*/ 436 w 436"/>
                  <a:gd name="T5" fmla="*/ 292 h 374"/>
                  <a:gd name="T6" fmla="*/ 436 w 436"/>
                  <a:gd name="T7" fmla="*/ 204 h 374"/>
                  <a:gd name="T8" fmla="*/ 154 w 436"/>
                  <a:gd name="T9" fmla="*/ 204 h 374"/>
                  <a:gd name="T10" fmla="*/ 137 w 436"/>
                  <a:gd name="T11" fmla="*/ 204 h 374"/>
                  <a:gd name="T12" fmla="*/ 137 w 436"/>
                  <a:gd name="T13" fmla="*/ 189 h 374"/>
                  <a:gd name="T14" fmla="*/ 137 w 436"/>
                  <a:gd name="T15" fmla="*/ 0 h 374"/>
                  <a:gd name="T16" fmla="*/ 0 w 436"/>
                  <a:gd name="T17" fmla="*/ 0 h 374"/>
                  <a:gd name="T18" fmla="*/ 0 w 436"/>
                  <a:gd name="T19" fmla="*/ 292 h 374"/>
                  <a:gd name="T20" fmla="*/ 46 w 436"/>
                  <a:gd name="T21" fmla="*/ 292 h 374"/>
                  <a:gd name="T22" fmla="*/ 46 w 436"/>
                  <a:gd name="T23" fmla="*/ 374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6" h="374">
                    <a:moveTo>
                      <a:pt x="46" y="374"/>
                    </a:moveTo>
                    <a:lnTo>
                      <a:pt x="125" y="292"/>
                    </a:lnTo>
                    <a:lnTo>
                      <a:pt x="436" y="292"/>
                    </a:lnTo>
                    <a:lnTo>
                      <a:pt x="436" y="204"/>
                    </a:lnTo>
                    <a:lnTo>
                      <a:pt x="154" y="204"/>
                    </a:lnTo>
                    <a:lnTo>
                      <a:pt x="137" y="204"/>
                    </a:lnTo>
                    <a:lnTo>
                      <a:pt x="137" y="189"/>
                    </a:lnTo>
                    <a:lnTo>
                      <a:pt x="137" y="0"/>
                    </a:lnTo>
                    <a:lnTo>
                      <a:pt x="0" y="0"/>
                    </a:lnTo>
                    <a:lnTo>
                      <a:pt x="0" y="292"/>
                    </a:lnTo>
                    <a:lnTo>
                      <a:pt x="46" y="292"/>
                    </a:lnTo>
                    <a:lnTo>
                      <a:pt x="46" y="37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Freeform 16"/>
              <p:cNvSpPr>
                <a:spLocks noEditPoints="1"/>
              </p:cNvSpPr>
              <p:nvPr/>
            </p:nvSpPr>
            <p:spPr bwMode="auto">
              <a:xfrm>
                <a:off x="3691" y="1919"/>
                <a:ext cx="452" cy="390"/>
              </a:xfrm>
              <a:custGeom>
                <a:avLst/>
                <a:gdLst>
                  <a:gd name="T0" fmla="*/ 136 w 189"/>
                  <a:gd name="T1" fmla="*/ 126 h 163"/>
                  <a:gd name="T2" fmla="*/ 168 w 189"/>
                  <a:gd name="T3" fmla="*/ 163 h 163"/>
                  <a:gd name="T4" fmla="*/ 168 w 189"/>
                  <a:gd name="T5" fmla="*/ 126 h 163"/>
                  <a:gd name="T6" fmla="*/ 189 w 189"/>
                  <a:gd name="T7" fmla="*/ 126 h 163"/>
                  <a:gd name="T8" fmla="*/ 189 w 189"/>
                  <a:gd name="T9" fmla="*/ 0 h 163"/>
                  <a:gd name="T10" fmla="*/ 0 w 189"/>
                  <a:gd name="T11" fmla="*/ 0 h 163"/>
                  <a:gd name="T12" fmla="*/ 0 w 189"/>
                  <a:gd name="T13" fmla="*/ 48 h 163"/>
                  <a:gd name="T14" fmla="*/ 0 w 189"/>
                  <a:gd name="T15" fmla="*/ 126 h 163"/>
                  <a:gd name="T16" fmla="*/ 118 w 189"/>
                  <a:gd name="T17" fmla="*/ 126 h 163"/>
                  <a:gd name="T18" fmla="*/ 136 w 189"/>
                  <a:gd name="T19" fmla="*/ 126 h 163"/>
                  <a:gd name="T20" fmla="*/ 158 w 189"/>
                  <a:gd name="T21" fmla="*/ 50 h 163"/>
                  <a:gd name="T22" fmla="*/ 172 w 189"/>
                  <a:gd name="T23" fmla="*/ 65 h 163"/>
                  <a:gd name="T24" fmla="*/ 158 w 189"/>
                  <a:gd name="T25" fmla="*/ 79 h 163"/>
                  <a:gd name="T26" fmla="*/ 143 w 189"/>
                  <a:gd name="T27" fmla="*/ 65 h 163"/>
                  <a:gd name="T28" fmla="*/ 158 w 189"/>
                  <a:gd name="T29" fmla="*/ 50 h 163"/>
                  <a:gd name="T30" fmla="*/ 37 w 189"/>
                  <a:gd name="T31" fmla="*/ 79 h 163"/>
                  <a:gd name="T32" fmla="*/ 23 w 189"/>
                  <a:gd name="T33" fmla="*/ 65 h 163"/>
                  <a:gd name="T34" fmla="*/ 37 w 189"/>
                  <a:gd name="T35" fmla="*/ 50 h 163"/>
                  <a:gd name="T36" fmla="*/ 51 w 189"/>
                  <a:gd name="T37" fmla="*/ 65 h 163"/>
                  <a:gd name="T38" fmla="*/ 37 w 189"/>
                  <a:gd name="T39" fmla="*/ 79 h 163"/>
                  <a:gd name="T40" fmla="*/ 77 w 189"/>
                  <a:gd name="T41" fmla="*/ 79 h 163"/>
                  <a:gd name="T42" fmla="*/ 63 w 189"/>
                  <a:gd name="T43" fmla="*/ 65 h 163"/>
                  <a:gd name="T44" fmla="*/ 77 w 189"/>
                  <a:gd name="T45" fmla="*/ 50 h 163"/>
                  <a:gd name="T46" fmla="*/ 92 w 189"/>
                  <a:gd name="T47" fmla="*/ 65 h 163"/>
                  <a:gd name="T48" fmla="*/ 77 w 189"/>
                  <a:gd name="T49" fmla="*/ 79 h 163"/>
                  <a:gd name="T50" fmla="*/ 117 w 189"/>
                  <a:gd name="T51" fmla="*/ 79 h 163"/>
                  <a:gd name="T52" fmla="*/ 103 w 189"/>
                  <a:gd name="T53" fmla="*/ 65 h 163"/>
                  <a:gd name="T54" fmla="*/ 117 w 189"/>
                  <a:gd name="T55" fmla="*/ 50 h 163"/>
                  <a:gd name="T56" fmla="*/ 118 w 189"/>
                  <a:gd name="T57" fmla="*/ 50 h 163"/>
                  <a:gd name="T58" fmla="*/ 132 w 189"/>
                  <a:gd name="T59" fmla="*/ 65 h 163"/>
                  <a:gd name="T60" fmla="*/ 118 w 189"/>
                  <a:gd name="T61" fmla="*/ 79 h 163"/>
                  <a:gd name="T62" fmla="*/ 117 w 189"/>
                  <a:gd name="T63" fmla="*/ 79 h 1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89" h="163">
                    <a:moveTo>
                      <a:pt x="136" y="126"/>
                    </a:moveTo>
                    <a:cubicBezTo>
                      <a:pt x="168" y="163"/>
                      <a:pt x="168" y="163"/>
                      <a:pt x="168" y="163"/>
                    </a:cubicBezTo>
                    <a:cubicBezTo>
                      <a:pt x="168" y="126"/>
                      <a:pt x="168" y="126"/>
                      <a:pt x="168" y="126"/>
                    </a:cubicBezTo>
                    <a:cubicBezTo>
                      <a:pt x="189" y="126"/>
                      <a:pt x="189" y="126"/>
                      <a:pt x="189" y="126"/>
                    </a:cubicBezTo>
                    <a:cubicBezTo>
                      <a:pt x="189" y="0"/>
                      <a:pt x="189" y="0"/>
                      <a:pt x="18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126"/>
                      <a:pt x="0" y="126"/>
                      <a:pt x="0" y="126"/>
                    </a:cubicBezTo>
                    <a:cubicBezTo>
                      <a:pt x="118" y="126"/>
                      <a:pt x="118" y="126"/>
                      <a:pt x="118" y="126"/>
                    </a:cubicBezTo>
                    <a:lnTo>
                      <a:pt x="136" y="126"/>
                    </a:lnTo>
                    <a:close/>
                    <a:moveTo>
                      <a:pt x="158" y="50"/>
                    </a:moveTo>
                    <a:cubicBezTo>
                      <a:pt x="166" y="50"/>
                      <a:pt x="172" y="57"/>
                      <a:pt x="172" y="65"/>
                    </a:cubicBezTo>
                    <a:cubicBezTo>
                      <a:pt x="172" y="73"/>
                      <a:pt x="166" y="79"/>
                      <a:pt x="158" y="79"/>
                    </a:cubicBezTo>
                    <a:cubicBezTo>
                      <a:pt x="150" y="79"/>
                      <a:pt x="143" y="73"/>
                      <a:pt x="143" y="65"/>
                    </a:cubicBezTo>
                    <a:cubicBezTo>
                      <a:pt x="143" y="57"/>
                      <a:pt x="150" y="50"/>
                      <a:pt x="158" y="50"/>
                    </a:cubicBezTo>
                    <a:moveTo>
                      <a:pt x="37" y="79"/>
                    </a:moveTo>
                    <a:cubicBezTo>
                      <a:pt x="29" y="79"/>
                      <a:pt x="23" y="73"/>
                      <a:pt x="23" y="65"/>
                    </a:cubicBezTo>
                    <a:cubicBezTo>
                      <a:pt x="23" y="57"/>
                      <a:pt x="29" y="50"/>
                      <a:pt x="37" y="50"/>
                    </a:cubicBezTo>
                    <a:cubicBezTo>
                      <a:pt x="45" y="50"/>
                      <a:pt x="51" y="57"/>
                      <a:pt x="51" y="65"/>
                    </a:cubicBezTo>
                    <a:cubicBezTo>
                      <a:pt x="51" y="73"/>
                      <a:pt x="45" y="79"/>
                      <a:pt x="37" y="79"/>
                    </a:cubicBezTo>
                    <a:moveTo>
                      <a:pt x="77" y="79"/>
                    </a:moveTo>
                    <a:cubicBezTo>
                      <a:pt x="69" y="79"/>
                      <a:pt x="63" y="73"/>
                      <a:pt x="63" y="65"/>
                    </a:cubicBezTo>
                    <a:cubicBezTo>
                      <a:pt x="63" y="57"/>
                      <a:pt x="69" y="50"/>
                      <a:pt x="77" y="50"/>
                    </a:cubicBezTo>
                    <a:cubicBezTo>
                      <a:pt x="85" y="50"/>
                      <a:pt x="92" y="57"/>
                      <a:pt x="92" y="65"/>
                    </a:cubicBezTo>
                    <a:cubicBezTo>
                      <a:pt x="92" y="73"/>
                      <a:pt x="85" y="79"/>
                      <a:pt x="77" y="79"/>
                    </a:cubicBezTo>
                    <a:moveTo>
                      <a:pt x="117" y="79"/>
                    </a:moveTo>
                    <a:cubicBezTo>
                      <a:pt x="110" y="79"/>
                      <a:pt x="103" y="73"/>
                      <a:pt x="103" y="65"/>
                    </a:cubicBezTo>
                    <a:cubicBezTo>
                      <a:pt x="103" y="57"/>
                      <a:pt x="110" y="50"/>
                      <a:pt x="117" y="50"/>
                    </a:cubicBezTo>
                    <a:cubicBezTo>
                      <a:pt x="118" y="50"/>
                      <a:pt x="118" y="50"/>
                      <a:pt x="118" y="50"/>
                    </a:cubicBezTo>
                    <a:cubicBezTo>
                      <a:pt x="126" y="51"/>
                      <a:pt x="132" y="57"/>
                      <a:pt x="132" y="65"/>
                    </a:cubicBezTo>
                    <a:cubicBezTo>
                      <a:pt x="132" y="72"/>
                      <a:pt x="126" y="78"/>
                      <a:pt x="118" y="79"/>
                    </a:cubicBezTo>
                    <a:cubicBezTo>
                      <a:pt x="118" y="79"/>
                      <a:pt x="118" y="79"/>
                      <a:pt x="117" y="79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38" name="组合 37"/>
          <p:cNvGrpSpPr/>
          <p:nvPr/>
        </p:nvGrpSpPr>
        <p:grpSpPr>
          <a:xfrm>
            <a:off x="7657600" y="4753617"/>
            <a:ext cx="3669196" cy="844172"/>
            <a:chOff x="8251253" y="5084068"/>
            <a:chExt cx="3264384" cy="844172"/>
          </a:xfrm>
        </p:grpSpPr>
        <p:sp>
          <p:nvSpPr>
            <p:cNvPr id="33" name="矩形 32"/>
            <p:cNvSpPr/>
            <p:nvPr/>
          </p:nvSpPr>
          <p:spPr>
            <a:xfrm>
              <a:off x="9120725" y="5084068"/>
              <a:ext cx="2394912" cy="458904"/>
            </a:xfrm>
            <a:prstGeom prst="rect">
              <a:avLst/>
            </a:prstGeom>
          </p:spPr>
          <p:txBody>
            <a:bodyPr wrap="square" lIns="91436" tIns="45718" rIns="91436" bIns="45718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不想二元对立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8251253" y="5208240"/>
              <a:ext cx="720000" cy="720000"/>
              <a:chOff x="8251253" y="5208240"/>
              <a:chExt cx="720000" cy="720000"/>
            </a:xfrm>
          </p:grpSpPr>
          <p:sp>
            <p:nvSpPr>
              <p:cNvPr id="29" name="矩形 28"/>
              <p:cNvSpPr>
                <a:spLocks noChangeAspect="1"/>
              </p:cNvSpPr>
              <p:nvPr/>
            </p:nvSpPr>
            <p:spPr>
              <a:xfrm>
                <a:off x="8251253" y="5208240"/>
                <a:ext cx="720000" cy="720000"/>
              </a:xfrm>
              <a:prstGeom prst="rect">
                <a:avLst/>
              </a:prstGeom>
              <a:solidFill>
                <a:srgbClr val="6B155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39" name="Group 19"/>
              <p:cNvGrpSpPr>
                <a:grpSpLocks noChangeAspect="1"/>
              </p:cNvGrpSpPr>
              <p:nvPr/>
            </p:nvGrpSpPr>
            <p:grpSpPr bwMode="auto">
              <a:xfrm>
                <a:off x="8406059" y="5362723"/>
                <a:ext cx="410388" cy="410388"/>
                <a:chOff x="3588" y="1908"/>
                <a:chExt cx="504" cy="504"/>
              </a:xfrm>
            </p:grpSpPr>
            <p:sp>
              <p:nvSpPr>
                <p:cNvPr id="40" name="AutoShape 18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3588" y="1908"/>
                  <a:ext cx="504" cy="50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1" name="Freeform 20"/>
                <p:cNvSpPr>
                  <a:spLocks noEditPoints="1"/>
                </p:cNvSpPr>
                <p:nvPr/>
              </p:nvSpPr>
              <p:spPr bwMode="auto">
                <a:xfrm>
                  <a:off x="3590" y="1908"/>
                  <a:ext cx="243" cy="506"/>
                </a:xfrm>
                <a:custGeom>
                  <a:avLst/>
                  <a:gdLst>
                    <a:gd name="T0" fmla="*/ 2 w 101"/>
                    <a:gd name="T1" fmla="*/ 205 h 211"/>
                    <a:gd name="T2" fmla="*/ 50 w 101"/>
                    <a:gd name="T3" fmla="*/ 181 h 211"/>
                    <a:gd name="T4" fmla="*/ 99 w 101"/>
                    <a:gd name="T5" fmla="*/ 205 h 211"/>
                    <a:gd name="T6" fmla="*/ 100 w 101"/>
                    <a:gd name="T7" fmla="*/ 205 h 211"/>
                    <a:gd name="T8" fmla="*/ 100 w 101"/>
                    <a:gd name="T9" fmla="*/ 45 h 211"/>
                    <a:gd name="T10" fmla="*/ 98 w 101"/>
                    <a:gd name="T11" fmla="*/ 22 h 211"/>
                    <a:gd name="T12" fmla="*/ 50 w 101"/>
                    <a:gd name="T13" fmla="*/ 0 h 211"/>
                    <a:gd name="T14" fmla="*/ 2 w 101"/>
                    <a:gd name="T15" fmla="*/ 22 h 211"/>
                    <a:gd name="T16" fmla="*/ 0 w 101"/>
                    <a:gd name="T17" fmla="*/ 45 h 211"/>
                    <a:gd name="T18" fmla="*/ 0 w 101"/>
                    <a:gd name="T19" fmla="*/ 205 h 211"/>
                    <a:gd name="T20" fmla="*/ 2 w 101"/>
                    <a:gd name="T21" fmla="*/ 205 h 211"/>
                    <a:gd name="T22" fmla="*/ 16 w 101"/>
                    <a:gd name="T23" fmla="*/ 35 h 211"/>
                    <a:gd name="T24" fmla="*/ 50 w 101"/>
                    <a:gd name="T25" fmla="*/ 28 h 211"/>
                    <a:gd name="T26" fmla="*/ 85 w 101"/>
                    <a:gd name="T27" fmla="*/ 35 h 211"/>
                    <a:gd name="T28" fmla="*/ 86 w 101"/>
                    <a:gd name="T29" fmla="*/ 39 h 211"/>
                    <a:gd name="T30" fmla="*/ 84 w 101"/>
                    <a:gd name="T31" fmla="*/ 40 h 211"/>
                    <a:gd name="T32" fmla="*/ 82 w 101"/>
                    <a:gd name="T33" fmla="*/ 40 h 211"/>
                    <a:gd name="T34" fmla="*/ 75 w 101"/>
                    <a:gd name="T35" fmla="*/ 37 h 211"/>
                    <a:gd name="T36" fmla="*/ 50 w 101"/>
                    <a:gd name="T37" fmla="*/ 34 h 211"/>
                    <a:gd name="T38" fmla="*/ 25 w 101"/>
                    <a:gd name="T39" fmla="*/ 37 h 211"/>
                    <a:gd name="T40" fmla="*/ 19 w 101"/>
                    <a:gd name="T41" fmla="*/ 40 h 211"/>
                    <a:gd name="T42" fmla="*/ 15 w 101"/>
                    <a:gd name="T43" fmla="*/ 39 h 211"/>
                    <a:gd name="T44" fmla="*/ 16 w 101"/>
                    <a:gd name="T45" fmla="*/ 35 h 211"/>
                    <a:gd name="T46" fmla="*/ 16 w 101"/>
                    <a:gd name="T47" fmla="*/ 63 h 211"/>
                    <a:gd name="T48" fmla="*/ 50 w 101"/>
                    <a:gd name="T49" fmla="*/ 57 h 211"/>
                    <a:gd name="T50" fmla="*/ 85 w 101"/>
                    <a:gd name="T51" fmla="*/ 63 h 211"/>
                    <a:gd name="T52" fmla="*/ 86 w 101"/>
                    <a:gd name="T53" fmla="*/ 67 h 211"/>
                    <a:gd name="T54" fmla="*/ 84 w 101"/>
                    <a:gd name="T55" fmla="*/ 69 h 211"/>
                    <a:gd name="T56" fmla="*/ 82 w 101"/>
                    <a:gd name="T57" fmla="*/ 68 h 211"/>
                    <a:gd name="T58" fmla="*/ 75 w 101"/>
                    <a:gd name="T59" fmla="*/ 66 h 211"/>
                    <a:gd name="T60" fmla="*/ 50 w 101"/>
                    <a:gd name="T61" fmla="*/ 63 h 211"/>
                    <a:gd name="T62" fmla="*/ 25 w 101"/>
                    <a:gd name="T63" fmla="*/ 66 h 211"/>
                    <a:gd name="T64" fmla="*/ 19 w 101"/>
                    <a:gd name="T65" fmla="*/ 68 h 211"/>
                    <a:gd name="T66" fmla="*/ 15 w 101"/>
                    <a:gd name="T67" fmla="*/ 67 h 211"/>
                    <a:gd name="T68" fmla="*/ 16 w 101"/>
                    <a:gd name="T69" fmla="*/ 63 h 211"/>
                    <a:gd name="T70" fmla="*/ 16 w 101"/>
                    <a:gd name="T71" fmla="*/ 92 h 211"/>
                    <a:gd name="T72" fmla="*/ 50 w 101"/>
                    <a:gd name="T73" fmla="*/ 85 h 211"/>
                    <a:gd name="T74" fmla="*/ 85 w 101"/>
                    <a:gd name="T75" fmla="*/ 92 h 211"/>
                    <a:gd name="T76" fmla="*/ 86 w 101"/>
                    <a:gd name="T77" fmla="*/ 96 h 211"/>
                    <a:gd name="T78" fmla="*/ 84 w 101"/>
                    <a:gd name="T79" fmla="*/ 97 h 211"/>
                    <a:gd name="T80" fmla="*/ 82 w 101"/>
                    <a:gd name="T81" fmla="*/ 97 h 211"/>
                    <a:gd name="T82" fmla="*/ 75 w 101"/>
                    <a:gd name="T83" fmla="*/ 94 h 211"/>
                    <a:gd name="T84" fmla="*/ 50 w 101"/>
                    <a:gd name="T85" fmla="*/ 91 h 211"/>
                    <a:gd name="T86" fmla="*/ 25 w 101"/>
                    <a:gd name="T87" fmla="*/ 94 h 211"/>
                    <a:gd name="T88" fmla="*/ 19 w 101"/>
                    <a:gd name="T89" fmla="*/ 97 h 211"/>
                    <a:gd name="T90" fmla="*/ 15 w 101"/>
                    <a:gd name="T91" fmla="*/ 96 h 211"/>
                    <a:gd name="T92" fmla="*/ 16 w 101"/>
                    <a:gd name="T93" fmla="*/ 92 h 2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01" h="211">
                      <a:moveTo>
                        <a:pt x="2" y="205"/>
                      </a:moveTo>
                      <a:cubicBezTo>
                        <a:pt x="8" y="187"/>
                        <a:pt x="27" y="181"/>
                        <a:pt x="50" y="181"/>
                      </a:cubicBezTo>
                      <a:cubicBezTo>
                        <a:pt x="74" y="181"/>
                        <a:pt x="93" y="187"/>
                        <a:pt x="99" y="205"/>
                      </a:cubicBezTo>
                      <a:cubicBezTo>
                        <a:pt x="101" y="211"/>
                        <a:pt x="100" y="211"/>
                        <a:pt x="100" y="205"/>
                      </a:cubicBezTo>
                      <a:cubicBezTo>
                        <a:pt x="100" y="172"/>
                        <a:pt x="100" y="78"/>
                        <a:pt x="100" y="45"/>
                      </a:cubicBezTo>
                      <a:cubicBezTo>
                        <a:pt x="100" y="39"/>
                        <a:pt x="101" y="28"/>
                        <a:pt x="98" y="22"/>
                      </a:cubicBezTo>
                      <a:cubicBezTo>
                        <a:pt x="92" y="5"/>
                        <a:pt x="73" y="0"/>
                        <a:pt x="50" y="0"/>
                      </a:cubicBezTo>
                      <a:cubicBezTo>
                        <a:pt x="28" y="0"/>
                        <a:pt x="8" y="5"/>
                        <a:pt x="2" y="22"/>
                      </a:cubicBezTo>
                      <a:cubicBezTo>
                        <a:pt x="0" y="28"/>
                        <a:pt x="0" y="39"/>
                        <a:pt x="0" y="45"/>
                      </a:cubicBezTo>
                      <a:cubicBezTo>
                        <a:pt x="0" y="78"/>
                        <a:pt x="0" y="172"/>
                        <a:pt x="0" y="205"/>
                      </a:cubicBezTo>
                      <a:cubicBezTo>
                        <a:pt x="0" y="211"/>
                        <a:pt x="0" y="211"/>
                        <a:pt x="2" y="205"/>
                      </a:cubicBezTo>
                      <a:moveTo>
                        <a:pt x="16" y="35"/>
                      </a:moveTo>
                      <a:cubicBezTo>
                        <a:pt x="24" y="30"/>
                        <a:pt x="36" y="28"/>
                        <a:pt x="50" y="28"/>
                      </a:cubicBezTo>
                      <a:cubicBezTo>
                        <a:pt x="65" y="28"/>
                        <a:pt x="76" y="30"/>
                        <a:pt x="85" y="35"/>
                      </a:cubicBezTo>
                      <a:cubicBezTo>
                        <a:pt x="86" y="35"/>
                        <a:pt x="87" y="37"/>
                        <a:pt x="86" y="39"/>
                      </a:cubicBezTo>
                      <a:cubicBezTo>
                        <a:pt x="86" y="40"/>
                        <a:pt x="85" y="40"/>
                        <a:pt x="84" y="40"/>
                      </a:cubicBezTo>
                      <a:cubicBezTo>
                        <a:pt x="83" y="40"/>
                        <a:pt x="83" y="40"/>
                        <a:pt x="82" y="40"/>
                      </a:cubicBezTo>
                      <a:cubicBezTo>
                        <a:pt x="80" y="39"/>
                        <a:pt x="78" y="38"/>
                        <a:pt x="75" y="37"/>
                      </a:cubicBezTo>
                      <a:cubicBezTo>
                        <a:pt x="69" y="35"/>
                        <a:pt x="61" y="34"/>
                        <a:pt x="50" y="34"/>
                      </a:cubicBezTo>
                      <a:cubicBezTo>
                        <a:pt x="40" y="34"/>
                        <a:pt x="32" y="35"/>
                        <a:pt x="25" y="37"/>
                      </a:cubicBezTo>
                      <a:cubicBezTo>
                        <a:pt x="23" y="38"/>
                        <a:pt x="21" y="39"/>
                        <a:pt x="19" y="40"/>
                      </a:cubicBezTo>
                      <a:cubicBezTo>
                        <a:pt x="17" y="41"/>
                        <a:pt x="15" y="40"/>
                        <a:pt x="15" y="39"/>
                      </a:cubicBezTo>
                      <a:cubicBezTo>
                        <a:pt x="14" y="37"/>
                        <a:pt x="15" y="35"/>
                        <a:pt x="16" y="35"/>
                      </a:cubicBezTo>
                      <a:moveTo>
                        <a:pt x="16" y="63"/>
                      </a:moveTo>
                      <a:cubicBezTo>
                        <a:pt x="24" y="59"/>
                        <a:pt x="36" y="57"/>
                        <a:pt x="50" y="57"/>
                      </a:cubicBezTo>
                      <a:cubicBezTo>
                        <a:pt x="65" y="57"/>
                        <a:pt x="76" y="59"/>
                        <a:pt x="85" y="63"/>
                      </a:cubicBezTo>
                      <a:cubicBezTo>
                        <a:pt x="86" y="64"/>
                        <a:pt x="87" y="66"/>
                        <a:pt x="86" y="67"/>
                      </a:cubicBezTo>
                      <a:cubicBezTo>
                        <a:pt x="86" y="68"/>
                        <a:pt x="85" y="69"/>
                        <a:pt x="84" y="69"/>
                      </a:cubicBezTo>
                      <a:cubicBezTo>
                        <a:pt x="83" y="69"/>
                        <a:pt x="83" y="69"/>
                        <a:pt x="82" y="68"/>
                      </a:cubicBezTo>
                      <a:cubicBezTo>
                        <a:pt x="80" y="67"/>
                        <a:pt x="78" y="66"/>
                        <a:pt x="75" y="66"/>
                      </a:cubicBezTo>
                      <a:cubicBezTo>
                        <a:pt x="69" y="64"/>
                        <a:pt x="61" y="63"/>
                        <a:pt x="50" y="63"/>
                      </a:cubicBezTo>
                      <a:cubicBezTo>
                        <a:pt x="40" y="63"/>
                        <a:pt x="32" y="64"/>
                        <a:pt x="25" y="66"/>
                      </a:cubicBezTo>
                      <a:cubicBezTo>
                        <a:pt x="23" y="66"/>
                        <a:pt x="21" y="67"/>
                        <a:pt x="19" y="68"/>
                      </a:cubicBezTo>
                      <a:cubicBezTo>
                        <a:pt x="17" y="69"/>
                        <a:pt x="15" y="69"/>
                        <a:pt x="15" y="67"/>
                      </a:cubicBezTo>
                      <a:cubicBezTo>
                        <a:pt x="14" y="66"/>
                        <a:pt x="15" y="64"/>
                        <a:pt x="16" y="63"/>
                      </a:cubicBezTo>
                      <a:moveTo>
                        <a:pt x="16" y="92"/>
                      </a:moveTo>
                      <a:cubicBezTo>
                        <a:pt x="24" y="87"/>
                        <a:pt x="36" y="85"/>
                        <a:pt x="50" y="85"/>
                      </a:cubicBezTo>
                      <a:cubicBezTo>
                        <a:pt x="65" y="85"/>
                        <a:pt x="76" y="87"/>
                        <a:pt x="85" y="92"/>
                      </a:cubicBezTo>
                      <a:cubicBezTo>
                        <a:pt x="86" y="92"/>
                        <a:pt x="87" y="94"/>
                        <a:pt x="86" y="96"/>
                      </a:cubicBezTo>
                      <a:cubicBezTo>
                        <a:pt x="86" y="97"/>
                        <a:pt x="85" y="97"/>
                        <a:pt x="84" y="97"/>
                      </a:cubicBezTo>
                      <a:cubicBezTo>
                        <a:pt x="83" y="97"/>
                        <a:pt x="83" y="97"/>
                        <a:pt x="82" y="97"/>
                      </a:cubicBezTo>
                      <a:cubicBezTo>
                        <a:pt x="80" y="96"/>
                        <a:pt x="78" y="95"/>
                        <a:pt x="75" y="94"/>
                      </a:cubicBezTo>
                      <a:cubicBezTo>
                        <a:pt x="69" y="92"/>
                        <a:pt x="61" y="91"/>
                        <a:pt x="50" y="91"/>
                      </a:cubicBezTo>
                      <a:cubicBezTo>
                        <a:pt x="40" y="91"/>
                        <a:pt x="32" y="92"/>
                        <a:pt x="25" y="94"/>
                      </a:cubicBezTo>
                      <a:cubicBezTo>
                        <a:pt x="23" y="95"/>
                        <a:pt x="21" y="96"/>
                        <a:pt x="19" y="97"/>
                      </a:cubicBezTo>
                      <a:cubicBezTo>
                        <a:pt x="17" y="98"/>
                        <a:pt x="15" y="97"/>
                        <a:pt x="15" y="96"/>
                      </a:cubicBezTo>
                      <a:cubicBezTo>
                        <a:pt x="14" y="94"/>
                        <a:pt x="15" y="92"/>
                        <a:pt x="16" y="92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2" name="Freeform 21"/>
                <p:cNvSpPr>
                  <a:spLocks noEditPoints="1"/>
                </p:cNvSpPr>
                <p:nvPr/>
              </p:nvSpPr>
              <p:spPr bwMode="auto">
                <a:xfrm>
                  <a:off x="3852" y="1908"/>
                  <a:ext cx="242" cy="506"/>
                </a:xfrm>
                <a:custGeom>
                  <a:avLst/>
                  <a:gdLst>
                    <a:gd name="T0" fmla="*/ 99 w 101"/>
                    <a:gd name="T1" fmla="*/ 205 h 211"/>
                    <a:gd name="T2" fmla="*/ 101 w 101"/>
                    <a:gd name="T3" fmla="*/ 205 h 211"/>
                    <a:gd name="T4" fmla="*/ 101 w 101"/>
                    <a:gd name="T5" fmla="*/ 45 h 211"/>
                    <a:gd name="T6" fmla="*/ 99 w 101"/>
                    <a:gd name="T7" fmla="*/ 22 h 211"/>
                    <a:gd name="T8" fmla="*/ 51 w 101"/>
                    <a:gd name="T9" fmla="*/ 0 h 211"/>
                    <a:gd name="T10" fmla="*/ 3 w 101"/>
                    <a:gd name="T11" fmla="*/ 22 h 211"/>
                    <a:gd name="T12" fmla="*/ 1 w 101"/>
                    <a:gd name="T13" fmla="*/ 45 h 211"/>
                    <a:gd name="T14" fmla="*/ 1 w 101"/>
                    <a:gd name="T15" fmla="*/ 205 h 211"/>
                    <a:gd name="T16" fmla="*/ 2 w 101"/>
                    <a:gd name="T17" fmla="*/ 205 h 211"/>
                    <a:gd name="T18" fmla="*/ 51 w 101"/>
                    <a:gd name="T19" fmla="*/ 181 h 211"/>
                    <a:gd name="T20" fmla="*/ 99 w 101"/>
                    <a:gd name="T21" fmla="*/ 205 h 211"/>
                    <a:gd name="T22" fmla="*/ 86 w 101"/>
                    <a:gd name="T23" fmla="*/ 96 h 211"/>
                    <a:gd name="T24" fmla="*/ 84 w 101"/>
                    <a:gd name="T25" fmla="*/ 97 h 211"/>
                    <a:gd name="T26" fmla="*/ 82 w 101"/>
                    <a:gd name="T27" fmla="*/ 97 h 211"/>
                    <a:gd name="T28" fmla="*/ 76 w 101"/>
                    <a:gd name="T29" fmla="*/ 94 h 211"/>
                    <a:gd name="T30" fmla="*/ 51 w 101"/>
                    <a:gd name="T31" fmla="*/ 91 h 211"/>
                    <a:gd name="T32" fmla="*/ 26 w 101"/>
                    <a:gd name="T33" fmla="*/ 94 h 211"/>
                    <a:gd name="T34" fmla="*/ 19 w 101"/>
                    <a:gd name="T35" fmla="*/ 97 h 211"/>
                    <a:gd name="T36" fmla="*/ 15 w 101"/>
                    <a:gd name="T37" fmla="*/ 96 h 211"/>
                    <a:gd name="T38" fmla="*/ 16 w 101"/>
                    <a:gd name="T39" fmla="*/ 92 h 211"/>
                    <a:gd name="T40" fmla="*/ 51 w 101"/>
                    <a:gd name="T41" fmla="*/ 85 h 211"/>
                    <a:gd name="T42" fmla="*/ 85 w 101"/>
                    <a:gd name="T43" fmla="*/ 92 h 211"/>
                    <a:gd name="T44" fmla="*/ 86 w 101"/>
                    <a:gd name="T45" fmla="*/ 96 h 211"/>
                    <a:gd name="T46" fmla="*/ 86 w 101"/>
                    <a:gd name="T47" fmla="*/ 67 h 211"/>
                    <a:gd name="T48" fmla="*/ 84 w 101"/>
                    <a:gd name="T49" fmla="*/ 69 h 211"/>
                    <a:gd name="T50" fmla="*/ 82 w 101"/>
                    <a:gd name="T51" fmla="*/ 68 h 211"/>
                    <a:gd name="T52" fmla="*/ 76 w 101"/>
                    <a:gd name="T53" fmla="*/ 66 h 211"/>
                    <a:gd name="T54" fmla="*/ 51 w 101"/>
                    <a:gd name="T55" fmla="*/ 63 h 211"/>
                    <a:gd name="T56" fmla="*/ 26 w 101"/>
                    <a:gd name="T57" fmla="*/ 66 h 211"/>
                    <a:gd name="T58" fmla="*/ 19 w 101"/>
                    <a:gd name="T59" fmla="*/ 68 h 211"/>
                    <a:gd name="T60" fmla="*/ 15 w 101"/>
                    <a:gd name="T61" fmla="*/ 67 h 211"/>
                    <a:gd name="T62" fmla="*/ 16 w 101"/>
                    <a:gd name="T63" fmla="*/ 63 h 211"/>
                    <a:gd name="T64" fmla="*/ 51 w 101"/>
                    <a:gd name="T65" fmla="*/ 57 h 211"/>
                    <a:gd name="T66" fmla="*/ 85 w 101"/>
                    <a:gd name="T67" fmla="*/ 63 h 211"/>
                    <a:gd name="T68" fmla="*/ 86 w 101"/>
                    <a:gd name="T69" fmla="*/ 67 h 211"/>
                    <a:gd name="T70" fmla="*/ 86 w 101"/>
                    <a:gd name="T71" fmla="*/ 39 h 211"/>
                    <a:gd name="T72" fmla="*/ 84 w 101"/>
                    <a:gd name="T73" fmla="*/ 40 h 211"/>
                    <a:gd name="T74" fmla="*/ 82 w 101"/>
                    <a:gd name="T75" fmla="*/ 40 h 211"/>
                    <a:gd name="T76" fmla="*/ 76 w 101"/>
                    <a:gd name="T77" fmla="*/ 37 h 211"/>
                    <a:gd name="T78" fmla="*/ 51 w 101"/>
                    <a:gd name="T79" fmla="*/ 34 h 211"/>
                    <a:gd name="T80" fmla="*/ 26 w 101"/>
                    <a:gd name="T81" fmla="*/ 37 h 211"/>
                    <a:gd name="T82" fmla="*/ 19 w 101"/>
                    <a:gd name="T83" fmla="*/ 40 h 211"/>
                    <a:gd name="T84" fmla="*/ 15 w 101"/>
                    <a:gd name="T85" fmla="*/ 39 h 211"/>
                    <a:gd name="T86" fmla="*/ 16 w 101"/>
                    <a:gd name="T87" fmla="*/ 35 h 211"/>
                    <a:gd name="T88" fmla="*/ 51 w 101"/>
                    <a:gd name="T89" fmla="*/ 28 h 211"/>
                    <a:gd name="T90" fmla="*/ 85 w 101"/>
                    <a:gd name="T91" fmla="*/ 35 h 211"/>
                    <a:gd name="T92" fmla="*/ 86 w 101"/>
                    <a:gd name="T93" fmla="*/ 39 h 2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01" h="211">
                      <a:moveTo>
                        <a:pt x="99" y="205"/>
                      </a:moveTo>
                      <a:cubicBezTo>
                        <a:pt x="101" y="211"/>
                        <a:pt x="101" y="211"/>
                        <a:pt x="101" y="205"/>
                      </a:cubicBezTo>
                      <a:cubicBezTo>
                        <a:pt x="101" y="172"/>
                        <a:pt x="101" y="78"/>
                        <a:pt x="101" y="45"/>
                      </a:cubicBezTo>
                      <a:cubicBezTo>
                        <a:pt x="101" y="39"/>
                        <a:pt x="101" y="28"/>
                        <a:pt x="99" y="22"/>
                      </a:cubicBezTo>
                      <a:cubicBezTo>
                        <a:pt x="93" y="5"/>
                        <a:pt x="73" y="0"/>
                        <a:pt x="51" y="0"/>
                      </a:cubicBezTo>
                      <a:cubicBezTo>
                        <a:pt x="28" y="0"/>
                        <a:pt x="9" y="5"/>
                        <a:pt x="3" y="22"/>
                      </a:cubicBezTo>
                      <a:cubicBezTo>
                        <a:pt x="1" y="28"/>
                        <a:pt x="1" y="39"/>
                        <a:pt x="1" y="45"/>
                      </a:cubicBezTo>
                      <a:cubicBezTo>
                        <a:pt x="1" y="78"/>
                        <a:pt x="1" y="172"/>
                        <a:pt x="1" y="205"/>
                      </a:cubicBezTo>
                      <a:cubicBezTo>
                        <a:pt x="1" y="211"/>
                        <a:pt x="0" y="211"/>
                        <a:pt x="2" y="205"/>
                      </a:cubicBezTo>
                      <a:cubicBezTo>
                        <a:pt x="8" y="187"/>
                        <a:pt x="27" y="181"/>
                        <a:pt x="51" y="181"/>
                      </a:cubicBezTo>
                      <a:cubicBezTo>
                        <a:pt x="74" y="181"/>
                        <a:pt x="94" y="187"/>
                        <a:pt x="99" y="205"/>
                      </a:cubicBezTo>
                      <a:moveTo>
                        <a:pt x="86" y="96"/>
                      </a:moveTo>
                      <a:cubicBezTo>
                        <a:pt x="86" y="97"/>
                        <a:pt x="85" y="97"/>
                        <a:pt x="84" y="97"/>
                      </a:cubicBezTo>
                      <a:cubicBezTo>
                        <a:pt x="83" y="97"/>
                        <a:pt x="83" y="97"/>
                        <a:pt x="82" y="97"/>
                      </a:cubicBezTo>
                      <a:cubicBezTo>
                        <a:pt x="80" y="96"/>
                        <a:pt x="78" y="95"/>
                        <a:pt x="76" y="94"/>
                      </a:cubicBezTo>
                      <a:cubicBezTo>
                        <a:pt x="69" y="92"/>
                        <a:pt x="61" y="91"/>
                        <a:pt x="51" y="91"/>
                      </a:cubicBezTo>
                      <a:cubicBezTo>
                        <a:pt x="41" y="91"/>
                        <a:pt x="32" y="92"/>
                        <a:pt x="26" y="94"/>
                      </a:cubicBezTo>
                      <a:cubicBezTo>
                        <a:pt x="23" y="95"/>
                        <a:pt x="21" y="96"/>
                        <a:pt x="19" y="97"/>
                      </a:cubicBezTo>
                      <a:cubicBezTo>
                        <a:pt x="17" y="98"/>
                        <a:pt x="16" y="97"/>
                        <a:pt x="15" y="96"/>
                      </a:cubicBezTo>
                      <a:cubicBezTo>
                        <a:pt x="14" y="94"/>
                        <a:pt x="15" y="92"/>
                        <a:pt x="16" y="92"/>
                      </a:cubicBezTo>
                      <a:cubicBezTo>
                        <a:pt x="25" y="87"/>
                        <a:pt x="36" y="85"/>
                        <a:pt x="51" y="85"/>
                      </a:cubicBezTo>
                      <a:cubicBezTo>
                        <a:pt x="65" y="85"/>
                        <a:pt x="77" y="87"/>
                        <a:pt x="85" y="92"/>
                      </a:cubicBezTo>
                      <a:cubicBezTo>
                        <a:pt x="87" y="92"/>
                        <a:pt x="87" y="94"/>
                        <a:pt x="86" y="96"/>
                      </a:cubicBezTo>
                      <a:moveTo>
                        <a:pt x="86" y="67"/>
                      </a:moveTo>
                      <a:cubicBezTo>
                        <a:pt x="86" y="68"/>
                        <a:pt x="85" y="69"/>
                        <a:pt x="84" y="69"/>
                      </a:cubicBezTo>
                      <a:cubicBezTo>
                        <a:pt x="83" y="69"/>
                        <a:pt x="83" y="69"/>
                        <a:pt x="82" y="68"/>
                      </a:cubicBezTo>
                      <a:cubicBezTo>
                        <a:pt x="80" y="67"/>
                        <a:pt x="78" y="66"/>
                        <a:pt x="76" y="66"/>
                      </a:cubicBezTo>
                      <a:cubicBezTo>
                        <a:pt x="69" y="64"/>
                        <a:pt x="61" y="63"/>
                        <a:pt x="51" y="63"/>
                      </a:cubicBezTo>
                      <a:cubicBezTo>
                        <a:pt x="41" y="63"/>
                        <a:pt x="32" y="64"/>
                        <a:pt x="26" y="66"/>
                      </a:cubicBezTo>
                      <a:cubicBezTo>
                        <a:pt x="23" y="66"/>
                        <a:pt x="21" y="67"/>
                        <a:pt x="19" y="68"/>
                      </a:cubicBezTo>
                      <a:cubicBezTo>
                        <a:pt x="17" y="69"/>
                        <a:pt x="16" y="69"/>
                        <a:pt x="15" y="67"/>
                      </a:cubicBezTo>
                      <a:cubicBezTo>
                        <a:pt x="14" y="66"/>
                        <a:pt x="15" y="64"/>
                        <a:pt x="16" y="63"/>
                      </a:cubicBezTo>
                      <a:cubicBezTo>
                        <a:pt x="25" y="59"/>
                        <a:pt x="36" y="57"/>
                        <a:pt x="51" y="57"/>
                      </a:cubicBezTo>
                      <a:cubicBezTo>
                        <a:pt x="65" y="57"/>
                        <a:pt x="77" y="59"/>
                        <a:pt x="85" y="63"/>
                      </a:cubicBezTo>
                      <a:cubicBezTo>
                        <a:pt x="87" y="64"/>
                        <a:pt x="87" y="66"/>
                        <a:pt x="86" y="67"/>
                      </a:cubicBezTo>
                      <a:moveTo>
                        <a:pt x="86" y="39"/>
                      </a:moveTo>
                      <a:cubicBezTo>
                        <a:pt x="86" y="40"/>
                        <a:pt x="85" y="40"/>
                        <a:pt x="84" y="40"/>
                      </a:cubicBezTo>
                      <a:cubicBezTo>
                        <a:pt x="83" y="40"/>
                        <a:pt x="83" y="40"/>
                        <a:pt x="82" y="40"/>
                      </a:cubicBezTo>
                      <a:cubicBezTo>
                        <a:pt x="80" y="39"/>
                        <a:pt x="78" y="38"/>
                        <a:pt x="76" y="37"/>
                      </a:cubicBezTo>
                      <a:cubicBezTo>
                        <a:pt x="69" y="35"/>
                        <a:pt x="61" y="34"/>
                        <a:pt x="51" y="34"/>
                      </a:cubicBezTo>
                      <a:cubicBezTo>
                        <a:pt x="41" y="34"/>
                        <a:pt x="32" y="35"/>
                        <a:pt x="26" y="37"/>
                      </a:cubicBezTo>
                      <a:cubicBezTo>
                        <a:pt x="23" y="38"/>
                        <a:pt x="21" y="39"/>
                        <a:pt x="19" y="40"/>
                      </a:cubicBezTo>
                      <a:cubicBezTo>
                        <a:pt x="17" y="41"/>
                        <a:pt x="16" y="40"/>
                        <a:pt x="15" y="39"/>
                      </a:cubicBezTo>
                      <a:cubicBezTo>
                        <a:pt x="14" y="37"/>
                        <a:pt x="15" y="35"/>
                        <a:pt x="16" y="35"/>
                      </a:cubicBezTo>
                      <a:cubicBezTo>
                        <a:pt x="25" y="30"/>
                        <a:pt x="36" y="28"/>
                        <a:pt x="51" y="28"/>
                      </a:cubicBezTo>
                      <a:cubicBezTo>
                        <a:pt x="65" y="28"/>
                        <a:pt x="77" y="30"/>
                        <a:pt x="85" y="35"/>
                      </a:cubicBezTo>
                      <a:cubicBezTo>
                        <a:pt x="87" y="35"/>
                        <a:pt x="87" y="37"/>
                        <a:pt x="86" y="39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  <p:pic>
        <p:nvPicPr>
          <p:cNvPr id="52" name="Picture 51" descr="59-南开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5607" y="6141125"/>
            <a:ext cx="499384" cy="499383"/>
          </a:xfrm>
          <a:prstGeom prst="rect">
            <a:avLst/>
          </a:prstGeom>
        </p:spPr>
      </p:pic>
      <p:sp>
        <p:nvSpPr>
          <p:cNvPr id="49" name="AutoShape 2" descr="性能测试必备知识（1）- 进程和线程的区别 - 小菠萝测试笔记 - 博客园">
            <a:extLst>
              <a:ext uri="{FF2B5EF4-FFF2-40B4-BE49-F238E27FC236}">
                <a16:creationId xmlns:a16="http://schemas.microsoft.com/office/drawing/2014/main" id="{575BC496-33C0-A39B-09AE-6AA2C897BA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4419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52E66B4-0252-BA0F-7CBD-61D65AE30D0B}"/>
              </a:ext>
            </a:extLst>
          </p:cNvPr>
          <p:cNvSpPr txBox="1"/>
          <p:nvPr/>
        </p:nvSpPr>
        <p:spPr>
          <a:xfrm>
            <a:off x="991051" y="1022508"/>
            <a:ext cx="2791141" cy="40010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/>
            <a:r>
              <a:rPr lang="zh-CN" altLang="en-US" sz="2000" b="1" dirty="0">
                <a:solidFill>
                  <a:srgbClr val="6B15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第一种方案</a:t>
            </a:r>
            <a:r>
              <a:rPr lang="en-US" altLang="zh-CN" sz="2000" b="1" dirty="0">
                <a:solidFill>
                  <a:srgbClr val="6B15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000" b="1" dirty="0">
                <a:solidFill>
                  <a:srgbClr val="6B15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不保留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8480466-6B4E-C8CD-0D8A-2AB6EF0A79C3}"/>
              </a:ext>
            </a:extLst>
          </p:cNvPr>
          <p:cNvSpPr/>
          <p:nvPr/>
        </p:nvSpPr>
        <p:spPr>
          <a:xfrm>
            <a:off x="1000872" y="1430097"/>
            <a:ext cx="8181243" cy="989656"/>
          </a:xfrm>
          <a:prstGeom prst="rect">
            <a:avLst/>
          </a:prstGeom>
        </p:spPr>
        <p:txBody>
          <a:bodyPr wrap="square" lIns="91436" tIns="45718" rIns="91436" bIns="45718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需要进程重启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需要读取文件、重放日志、同步网络状态、重新运行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D1A401D-E851-6BE3-546D-21199056F012}"/>
              </a:ext>
            </a:extLst>
          </p:cNvPr>
          <p:cNvSpPr/>
          <p:nvPr/>
        </p:nvSpPr>
        <p:spPr>
          <a:xfrm>
            <a:off x="1000872" y="2965918"/>
            <a:ext cx="8181243" cy="1024604"/>
          </a:xfrm>
          <a:prstGeom prst="rect">
            <a:avLst/>
          </a:prstGeom>
        </p:spPr>
        <p:txBody>
          <a:bodyPr wrap="square" lIns="91436" tIns="45718" rIns="91436" bIns="45718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恢复到最近的上一个检查点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checkpoint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工具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82041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2857500" y="2686050"/>
            <a:ext cx="9334500" cy="1295400"/>
          </a:xfrm>
          <a:prstGeom prst="rect">
            <a:avLst/>
          </a:prstGeom>
          <a:solidFill>
            <a:srgbClr val="6B1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2857500" y="4133850"/>
            <a:ext cx="8210550" cy="95250"/>
          </a:xfrm>
          <a:prstGeom prst="rect">
            <a:avLst/>
          </a:prstGeom>
          <a:solidFill>
            <a:srgbClr val="6B1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123950" y="2686050"/>
            <a:ext cx="1543050" cy="1543050"/>
            <a:chOff x="1123950" y="2686050"/>
            <a:chExt cx="1543050" cy="1543050"/>
          </a:xfrm>
        </p:grpSpPr>
        <p:sp>
          <p:nvSpPr>
            <p:cNvPr id="9" name="矩形 8"/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solidFill>
              <a:srgbClr val="6B15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407285" y="2903577"/>
              <a:ext cx="97638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2950335" y="2750022"/>
            <a:ext cx="3877977" cy="83099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zh-CN" altLang="en-US" dirty="0">
                <a:solidFill>
                  <a:srgbClr val="FFFFFF"/>
                </a:solidFill>
              </a:rPr>
              <a:t>论文重要观察</a:t>
            </a:r>
          </a:p>
        </p:txBody>
      </p:sp>
      <p:sp>
        <p:nvSpPr>
          <p:cNvPr id="13" name="矩形 12"/>
          <p:cNvSpPr/>
          <p:nvPr/>
        </p:nvSpPr>
        <p:spPr>
          <a:xfrm>
            <a:off x="2946101" y="3549053"/>
            <a:ext cx="2959399" cy="462520"/>
          </a:xfrm>
          <a:prstGeom prst="rect">
            <a:avLst/>
          </a:prstGeom>
        </p:spPr>
        <p:txBody>
          <a:bodyPr wrap="square" lIns="91436" tIns="45718" rIns="91436" bIns="45718">
            <a:no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Important Observations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</p:grpSpPr>
        <p:sp>
          <p:nvSpPr>
            <p:cNvPr id="6" name="圆角矩形 5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6B15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701167" y="144940"/>
            <a:ext cx="2236502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/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挑战与观察</a:t>
            </a:r>
          </a:p>
        </p:txBody>
      </p:sp>
      <p:grpSp>
        <p:nvGrpSpPr>
          <p:cNvPr id="36" name="组合 35"/>
          <p:cNvGrpSpPr/>
          <p:nvPr/>
        </p:nvGrpSpPr>
        <p:grpSpPr>
          <a:xfrm>
            <a:off x="607851" y="2854490"/>
            <a:ext cx="4605198" cy="2377910"/>
            <a:chOff x="526665" y="4345214"/>
            <a:chExt cx="3360089" cy="1649609"/>
          </a:xfrm>
        </p:grpSpPr>
        <p:sp>
          <p:nvSpPr>
            <p:cNvPr id="17" name="文本框 16"/>
            <p:cNvSpPr txBox="1"/>
            <p:nvPr/>
          </p:nvSpPr>
          <p:spPr>
            <a:xfrm>
              <a:off x="791776" y="4345214"/>
              <a:ext cx="2829867" cy="335915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noAutofit/>
            </a:bodyPr>
            <a:lstStyle/>
            <a:p>
              <a:pPr algn="ctr"/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领域知识与定制化逻辑不可或缺</a:t>
              </a:r>
            </a:p>
          </p:txBody>
        </p:sp>
        <p:sp>
          <p:nvSpPr>
            <p:cNvPr id="18" name="矩形 17"/>
            <p:cNvSpPr/>
            <p:nvPr/>
          </p:nvSpPr>
          <p:spPr>
            <a:xfrm>
              <a:off x="526665" y="4704922"/>
              <a:ext cx="3360089" cy="1289901"/>
            </a:xfrm>
            <a:prstGeom prst="rect">
              <a:avLst/>
            </a:prstGeom>
          </p:spPr>
          <p:txBody>
            <a:bodyPr wrap="square" lIns="91436" tIns="45718" rIns="91436" bIns="45718">
              <a:no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没有办法实现一个纯粹通用、对内部一无所知的恢复机制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为开发者提供关键接口即可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提出一个框架与简洁的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API</a:t>
              </a:r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7399533" y="2854490"/>
            <a:ext cx="3927039" cy="335915"/>
          </a:xfrm>
          <a:prstGeom prst="rect">
            <a:avLst/>
          </a:prstGeom>
          <a:noFill/>
        </p:spPr>
        <p:txBody>
          <a:bodyPr wrap="square" lIns="91436" tIns="45718" rIns="91436" bIns="45718" rtlCol="0">
            <a:no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加速大概率事件</a:t>
            </a:r>
          </a:p>
        </p:txBody>
      </p:sp>
      <p:grpSp>
        <p:nvGrpSpPr>
          <p:cNvPr id="32" name="组合 31"/>
          <p:cNvGrpSpPr/>
          <p:nvPr/>
        </p:nvGrpSpPr>
        <p:grpSpPr>
          <a:xfrm>
            <a:off x="2591783" y="2011342"/>
            <a:ext cx="637415" cy="523220"/>
            <a:chOff x="1352732" y="3484886"/>
            <a:chExt cx="637415" cy="523220"/>
          </a:xfrm>
        </p:grpSpPr>
        <p:sp>
          <p:nvSpPr>
            <p:cNvPr id="13" name="矩形 12"/>
            <p:cNvSpPr>
              <a:spLocks noChangeAspect="1"/>
            </p:cNvSpPr>
            <p:nvPr/>
          </p:nvSpPr>
          <p:spPr>
            <a:xfrm>
              <a:off x="1445655" y="3516298"/>
              <a:ext cx="460399" cy="460399"/>
            </a:xfrm>
            <a:prstGeom prst="rect">
              <a:avLst/>
            </a:prstGeom>
            <a:solidFill>
              <a:srgbClr val="6B15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352732" y="3484886"/>
              <a:ext cx="6374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9044375" y="2043169"/>
            <a:ext cx="637415" cy="523220"/>
            <a:chOff x="3218757" y="3484886"/>
            <a:chExt cx="637415" cy="523220"/>
          </a:xfrm>
        </p:grpSpPr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307267" y="3516297"/>
              <a:ext cx="460399" cy="460399"/>
            </a:xfrm>
            <a:prstGeom prst="rect">
              <a:avLst/>
            </a:prstGeom>
            <a:solidFill>
              <a:srgbClr val="6B15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3218757" y="3484886"/>
              <a:ext cx="6374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2937669" y="217491"/>
            <a:ext cx="9743229" cy="507412"/>
            <a:chOff x="2584396" y="217491"/>
            <a:chExt cx="10096501" cy="507412"/>
          </a:xfrm>
        </p:grpSpPr>
        <p:sp>
          <p:nvSpPr>
            <p:cNvPr id="5" name="圆角矩形 4"/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6B15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圆角矩形 8"/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6B15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/>
            <p:cNvSpPr/>
            <p:nvPr/>
          </p:nvSpPr>
          <p:spPr>
            <a:xfrm>
              <a:off x="2584396" y="229313"/>
              <a:ext cx="3272846" cy="495590"/>
            </a:xfrm>
            <a:prstGeom prst="rect">
              <a:avLst/>
            </a:prstGeom>
          </p:spPr>
          <p:txBody>
            <a:bodyPr wrap="square" lIns="91436" tIns="45718" rIns="91436" bIns="45718">
              <a:no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C</a:t>
              </a:r>
              <a:r>
                <a:rPr lang="en-US" altLang="zh-CN" sz="1600" dirty="0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hallenges and </a:t>
              </a:r>
              <a:r>
                <a:rPr lang="en-US" altLang="zh-CN" sz="1600" dirty="0" err="1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Obsercation</a:t>
              </a:r>
              <a:endParaRPr sz="1600" dirty="0"/>
            </a:p>
          </p:txBody>
        </p:sp>
      </p:grpSp>
      <p:pic>
        <p:nvPicPr>
          <p:cNvPr id="70" name="Picture 69" descr="59-南开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5607" y="6141125"/>
            <a:ext cx="499384" cy="49938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D9FFF1A9-65DA-0329-849D-25D159313692}"/>
              </a:ext>
            </a:extLst>
          </p:cNvPr>
          <p:cNvSpPr txBox="1"/>
          <p:nvPr/>
        </p:nvSpPr>
        <p:spPr>
          <a:xfrm>
            <a:off x="1283151" y="1086008"/>
            <a:ext cx="6288893" cy="523216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6B15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关键在于如何平衡恢复的速度与正确性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0D2A586-8A75-F7B3-CAAD-30F8A147C9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3113" y="4009729"/>
            <a:ext cx="3230788" cy="218553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376A2AEC-0E42-F174-667D-0104BEDD5C86}"/>
              </a:ext>
            </a:extLst>
          </p:cNvPr>
          <p:cNvSpPr/>
          <p:nvPr/>
        </p:nvSpPr>
        <p:spPr>
          <a:xfrm>
            <a:off x="7224551" y="3449209"/>
            <a:ext cx="4605198" cy="1859391"/>
          </a:xfrm>
          <a:prstGeom prst="rect">
            <a:avLst/>
          </a:prstGeom>
        </p:spPr>
        <p:txBody>
          <a:bodyPr wrap="square" lIns="91436" tIns="45718" rIns="91436" bIns="45718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代码的复杂度和数据体积分布不均衡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瞬时状态是引发错误的关键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局部变量、生命周期短暂的堆变量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还没有污染到全局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2857500" y="4133850"/>
            <a:ext cx="8210550" cy="95250"/>
          </a:xfrm>
          <a:prstGeom prst="rect">
            <a:avLst/>
          </a:prstGeom>
          <a:solidFill>
            <a:srgbClr val="6B1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123950" y="2686050"/>
            <a:ext cx="1543050" cy="1543050"/>
            <a:chOff x="1123950" y="2686050"/>
            <a:chExt cx="1543050" cy="1543050"/>
          </a:xfrm>
        </p:grpSpPr>
        <p:sp>
          <p:nvSpPr>
            <p:cNvPr id="7" name="矩形 6"/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solidFill>
              <a:srgbClr val="6B15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407285" y="2903577"/>
              <a:ext cx="97638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2857500" y="2686050"/>
            <a:ext cx="9334500" cy="1295400"/>
          </a:xfrm>
          <a:prstGeom prst="rect">
            <a:avLst/>
          </a:prstGeom>
          <a:solidFill>
            <a:srgbClr val="6B1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2950335" y="2750022"/>
            <a:ext cx="3877977" cy="83099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rgbClr val="FFFFFF"/>
                </a:solidFill>
              </a:rPr>
              <a:t>简要模型介绍</a:t>
            </a:r>
          </a:p>
        </p:txBody>
      </p:sp>
      <p:sp>
        <p:nvSpPr>
          <p:cNvPr id="12" name="矩形 11"/>
          <p:cNvSpPr/>
          <p:nvPr/>
        </p:nvSpPr>
        <p:spPr>
          <a:xfrm>
            <a:off x="2358823" y="3530684"/>
            <a:ext cx="4168977" cy="369328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Important Observations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</p:grpSpPr>
        <p:sp>
          <p:nvSpPr>
            <p:cNvPr id="11" name="圆角矩形 10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6B15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701167" y="144940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/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实现方法</a:t>
            </a:r>
          </a:p>
        </p:txBody>
      </p:sp>
      <p:grpSp>
        <p:nvGrpSpPr>
          <p:cNvPr id="22" name="组合 21"/>
          <p:cNvGrpSpPr/>
          <p:nvPr/>
        </p:nvGrpSpPr>
        <p:grpSpPr>
          <a:xfrm>
            <a:off x="2527300" y="217491"/>
            <a:ext cx="11398197" cy="439541"/>
            <a:chOff x="3796505" y="217491"/>
            <a:chExt cx="10128992" cy="439541"/>
          </a:xfrm>
        </p:grpSpPr>
        <p:sp>
          <p:nvSpPr>
            <p:cNvPr id="10" name="圆角矩形 9"/>
            <p:cNvSpPr/>
            <p:nvPr/>
          </p:nvSpPr>
          <p:spPr>
            <a:xfrm>
              <a:off x="3796505" y="217491"/>
              <a:ext cx="8909791" cy="328609"/>
            </a:xfrm>
            <a:prstGeom prst="roundRect">
              <a:avLst>
                <a:gd name="adj" fmla="val 50000"/>
              </a:avLst>
            </a:prstGeom>
            <a:solidFill>
              <a:srgbClr val="6B15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圆角矩形 13"/>
            <p:cNvSpPr/>
            <p:nvPr/>
          </p:nvSpPr>
          <p:spPr>
            <a:xfrm flipV="1">
              <a:off x="38416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6B15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3796505" y="240185"/>
              <a:ext cx="2563771" cy="274320"/>
            </a:xfrm>
            <a:prstGeom prst="rect">
              <a:avLst/>
            </a:prstGeom>
          </p:spPr>
          <p:txBody>
            <a:bodyPr wrap="square" lIns="91436" tIns="45718" rIns="91436" bIns="45718">
              <a:no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Implementation Method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EF82EF95-AD35-F444-7E65-14443B4A74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928" y="1409890"/>
            <a:ext cx="7820650" cy="453371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FB13FF6-74FA-ECB0-8208-B4F7C41CDA1C}"/>
              </a:ext>
            </a:extLst>
          </p:cNvPr>
          <p:cNvSpPr/>
          <p:nvPr/>
        </p:nvSpPr>
        <p:spPr>
          <a:xfrm>
            <a:off x="9142251" y="1587499"/>
            <a:ext cx="2376649" cy="3644901"/>
          </a:xfrm>
          <a:prstGeom prst="rect">
            <a:avLst/>
          </a:prstGeom>
        </p:spPr>
        <p:txBody>
          <a:bodyPr wrap="square" lIns="91436" tIns="45718" rIns="91436" bIns="45718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保留核心数据、丢弃瞬时状态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自定义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内核协同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零拷贝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在正确恢复和快速恢复之间找到一个协调点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2857500" y="2686050"/>
            <a:ext cx="9334500" cy="1295400"/>
          </a:xfrm>
          <a:prstGeom prst="rect">
            <a:avLst/>
          </a:prstGeom>
          <a:solidFill>
            <a:srgbClr val="6B1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2857500" y="4133850"/>
            <a:ext cx="8210550" cy="95250"/>
          </a:xfrm>
          <a:prstGeom prst="rect">
            <a:avLst/>
          </a:prstGeom>
          <a:solidFill>
            <a:srgbClr val="6B1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1123950" y="2686050"/>
            <a:ext cx="1543050" cy="1543050"/>
            <a:chOff x="1123950" y="2686050"/>
            <a:chExt cx="1543050" cy="1543050"/>
          </a:xfrm>
        </p:grpSpPr>
        <p:sp>
          <p:nvSpPr>
            <p:cNvPr id="7" name="矩形 6"/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solidFill>
              <a:srgbClr val="6B15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407285" y="2903577"/>
              <a:ext cx="97638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2950335" y="2750022"/>
            <a:ext cx="3877977" cy="83099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zh-CN" altLang="en-US" dirty="0">
                <a:solidFill>
                  <a:srgbClr val="FFFFFF"/>
                </a:solidFill>
              </a:rPr>
              <a:t>框架核心技术</a:t>
            </a:r>
          </a:p>
        </p:txBody>
      </p:sp>
      <p:sp>
        <p:nvSpPr>
          <p:cNvPr id="12" name="矩形 11"/>
          <p:cNvSpPr/>
          <p:nvPr/>
        </p:nvSpPr>
        <p:spPr>
          <a:xfrm>
            <a:off x="2950369" y="3541758"/>
            <a:ext cx="3355224" cy="367030"/>
          </a:xfrm>
          <a:prstGeom prst="rect">
            <a:avLst/>
          </a:prstGeom>
        </p:spPr>
        <p:txBody>
          <a:bodyPr wrap="square" lIns="91436" tIns="45718" rIns="91436" bIns="45718">
            <a:no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Framework Core Technology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</p:grpSpPr>
        <p:sp>
          <p:nvSpPr>
            <p:cNvPr id="11" name="圆角矩形 10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6B15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701167" y="144940"/>
            <a:ext cx="3877977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/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带有内存保留的重启</a:t>
            </a:r>
          </a:p>
        </p:txBody>
      </p:sp>
      <p:grpSp>
        <p:nvGrpSpPr>
          <p:cNvPr id="22" name="组合 21"/>
          <p:cNvGrpSpPr/>
          <p:nvPr/>
        </p:nvGrpSpPr>
        <p:grpSpPr>
          <a:xfrm>
            <a:off x="4508499" y="217491"/>
            <a:ext cx="11398198" cy="439541"/>
            <a:chOff x="3796504" y="217491"/>
            <a:chExt cx="10128993" cy="439541"/>
          </a:xfrm>
        </p:grpSpPr>
        <p:sp>
          <p:nvSpPr>
            <p:cNvPr id="10" name="圆角矩形 9"/>
            <p:cNvSpPr/>
            <p:nvPr/>
          </p:nvSpPr>
          <p:spPr>
            <a:xfrm>
              <a:off x="3796505" y="217491"/>
              <a:ext cx="8909791" cy="328609"/>
            </a:xfrm>
            <a:prstGeom prst="roundRect">
              <a:avLst>
                <a:gd name="adj" fmla="val 50000"/>
              </a:avLst>
            </a:prstGeom>
            <a:solidFill>
              <a:srgbClr val="6B15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圆角矩形 13"/>
            <p:cNvSpPr/>
            <p:nvPr/>
          </p:nvSpPr>
          <p:spPr>
            <a:xfrm flipV="1">
              <a:off x="38416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6B15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3796504" y="240184"/>
              <a:ext cx="3919130" cy="305915"/>
            </a:xfrm>
            <a:prstGeom prst="rect">
              <a:avLst/>
            </a:prstGeom>
          </p:spPr>
          <p:txBody>
            <a:bodyPr wrap="square" lIns="91436" tIns="45718" rIns="91436" bIns="45718">
              <a:no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Fresh </a:t>
              </a:r>
              <a:r>
                <a:rPr lang="en-US" altLang="zh-CN" sz="1600" dirty="0" err="1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Restar</a:t>
              </a:r>
              <a:r>
                <a:rPr lang="en-US" altLang="zh-CN" sz="1600" dirty="0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 with In-memory Preservation</a:t>
              </a:r>
            </a:p>
          </p:txBody>
        </p:sp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6FB13FF6-74FA-ECB0-8208-B4F7C41CDA1C}"/>
              </a:ext>
            </a:extLst>
          </p:cNvPr>
          <p:cNvSpPr/>
          <p:nvPr/>
        </p:nvSpPr>
        <p:spPr>
          <a:xfrm>
            <a:off x="846377" y="1520823"/>
            <a:ext cx="3662122" cy="3711578"/>
          </a:xfrm>
          <a:prstGeom prst="rect">
            <a:avLst/>
          </a:prstGeom>
        </p:spPr>
        <p:txBody>
          <a:bodyPr wrap="square" lIns="91436" tIns="45718" rIns="91436" bIns="45718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Phoenix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实现了一个新的系统调用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preserve_exec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内核直接操纵页表，把指定的内存页移动到新进程的相同虚拟地址上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预填旧内存的核心数据，新进程有一个“温”的数据状态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9904747-AA5F-5897-6D4B-E3A94A092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2532" y="1401142"/>
            <a:ext cx="6092502" cy="254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791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</p:grpSpPr>
        <p:sp>
          <p:nvSpPr>
            <p:cNvPr id="11" name="圆角矩形 10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6B15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701167" y="144940"/>
            <a:ext cx="4288345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/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不安全区域与交叉验证</a:t>
            </a:r>
          </a:p>
        </p:txBody>
      </p:sp>
      <p:grpSp>
        <p:nvGrpSpPr>
          <p:cNvPr id="22" name="组合 21"/>
          <p:cNvGrpSpPr/>
          <p:nvPr/>
        </p:nvGrpSpPr>
        <p:grpSpPr>
          <a:xfrm>
            <a:off x="5051839" y="217491"/>
            <a:ext cx="11398198" cy="439541"/>
            <a:chOff x="3796504" y="217491"/>
            <a:chExt cx="10128993" cy="439541"/>
          </a:xfrm>
        </p:grpSpPr>
        <p:sp>
          <p:nvSpPr>
            <p:cNvPr id="10" name="圆角矩形 9"/>
            <p:cNvSpPr/>
            <p:nvPr/>
          </p:nvSpPr>
          <p:spPr>
            <a:xfrm>
              <a:off x="3796505" y="217491"/>
              <a:ext cx="8909791" cy="328609"/>
            </a:xfrm>
            <a:prstGeom prst="roundRect">
              <a:avLst>
                <a:gd name="adj" fmla="val 50000"/>
              </a:avLst>
            </a:prstGeom>
            <a:solidFill>
              <a:srgbClr val="6B15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圆角矩形 13"/>
            <p:cNvSpPr/>
            <p:nvPr/>
          </p:nvSpPr>
          <p:spPr>
            <a:xfrm flipV="1">
              <a:off x="38416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6B15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3796504" y="240184"/>
              <a:ext cx="3483399" cy="380848"/>
            </a:xfrm>
            <a:prstGeom prst="rect">
              <a:avLst/>
            </a:prstGeom>
          </p:spPr>
          <p:txBody>
            <a:bodyPr wrap="square" lIns="91436" tIns="45718" rIns="91436" bIns="45718">
              <a:no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Unsafe Region and Check Validation</a:t>
              </a:r>
            </a:p>
          </p:txBody>
        </p:sp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6FB13FF6-74FA-ECB0-8208-B4F7C41CDA1C}"/>
              </a:ext>
            </a:extLst>
          </p:cNvPr>
          <p:cNvSpPr/>
          <p:nvPr/>
        </p:nvSpPr>
        <p:spPr>
          <a:xfrm>
            <a:off x="846376" y="1520823"/>
            <a:ext cx="4944823" cy="3711578"/>
          </a:xfrm>
          <a:prstGeom prst="rect">
            <a:avLst/>
          </a:prstGeom>
        </p:spPr>
        <p:txBody>
          <a:bodyPr wrap="square" lIns="91436" tIns="45718" rIns="91436" bIns="45718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Phoenix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的恢复是乐观的，它正确性的前提是保留的状态一致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不安全区域：由开发者通过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phx_unsafe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工具来设置，当故障发生在某个不安全区域内，就放弃乐观恢复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后台交叉</a:t>
            </a:r>
            <a:r>
              <a:rPr lang="zh-CN" altLang="en-US" b="0" i="0">
                <a:solidFill>
                  <a:srgbClr val="191B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检查机制：后台执行一个完整的恢复流程，恢复完成后进行比较和回退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4DD227B-AF31-C464-4A7F-4CB45F870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3241" y="1125969"/>
            <a:ext cx="5171429" cy="248571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9E459C1-33B7-3F2A-39CE-AF715D5BA0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3241" y="4103811"/>
            <a:ext cx="5228571" cy="19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832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</p:grpSpPr>
        <p:sp>
          <p:nvSpPr>
            <p:cNvPr id="11" name="圆角矩形 10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6B15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701167" y="144940"/>
            <a:ext cx="4288345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/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灵活的状态选择与管理</a:t>
            </a:r>
          </a:p>
        </p:txBody>
      </p:sp>
      <p:grpSp>
        <p:nvGrpSpPr>
          <p:cNvPr id="22" name="组合 21"/>
          <p:cNvGrpSpPr/>
          <p:nvPr/>
        </p:nvGrpSpPr>
        <p:grpSpPr>
          <a:xfrm>
            <a:off x="5091597" y="217491"/>
            <a:ext cx="11398198" cy="439541"/>
            <a:chOff x="3796504" y="217491"/>
            <a:chExt cx="10128993" cy="439541"/>
          </a:xfrm>
        </p:grpSpPr>
        <p:sp>
          <p:nvSpPr>
            <p:cNvPr id="10" name="圆角矩形 9"/>
            <p:cNvSpPr/>
            <p:nvPr/>
          </p:nvSpPr>
          <p:spPr>
            <a:xfrm>
              <a:off x="3796505" y="217491"/>
              <a:ext cx="8909791" cy="328609"/>
            </a:xfrm>
            <a:prstGeom prst="roundRect">
              <a:avLst>
                <a:gd name="adj" fmla="val 50000"/>
              </a:avLst>
            </a:prstGeom>
            <a:solidFill>
              <a:srgbClr val="6B15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圆角矩形 13"/>
            <p:cNvSpPr/>
            <p:nvPr/>
          </p:nvSpPr>
          <p:spPr>
            <a:xfrm flipV="1">
              <a:off x="38416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6B15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3796504" y="240184"/>
              <a:ext cx="3919130" cy="305915"/>
            </a:xfrm>
            <a:prstGeom prst="rect">
              <a:avLst/>
            </a:prstGeom>
          </p:spPr>
          <p:txBody>
            <a:bodyPr wrap="square" lIns="91436" tIns="45718" rIns="91436" bIns="45718">
              <a:no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Flexible State </a:t>
              </a:r>
              <a:r>
                <a:rPr lang="en-US" altLang="zh-CN" sz="1600" dirty="0" err="1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Seclection</a:t>
              </a:r>
              <a:r>
                <a:rPr lang="en-US" altLang="zh-CN" sz="1600" dirty="0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 and </a:t>
              </a:r>
              <a:r>
                <a:rPr lang="en-US" altLang="zh-CN" sz="1600" dirty="0" err="1">
                  <a:solidFill>
                    <a:schemeClr val="bg1"/>
                  </a:solidFill>
                  <a:latin typeface="微软雅黑" charset="0"/>
                  <a:ea typeface="微软雅黑" charset="0"/>
                </a:rPr>
                <a:t>Managerment</a:t>
              </a:r>
              <a:endParaRPr lang="en-US" altLang="zh-CN" sz="1600" dirty="0">
                <a:solidFill>
                  <a:schemeClr val="bg1"/>
                </a:solidFill>
                <a:latin typeface="微软雅黑" charset="0"/>
                <a:ea typeface="微软雅黑" charset="0"/>
              </a:endParaRPr>
            </a:p>
          </p:txBody>
        </p:sp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6FB13FF6-74FA-ECB0-8208-B4F7C41CDA1C}"/>
              </a:ext>
            </a:extLst>
          </p:cNvPr>
          <p:cNvSpPr/>
          <p:nvPr/>
        </p:nvSpPr>
        <p:spPr>
          <a:xfrm>
            <a:off x="979379" y="1932119"/>
            <a:ext cx="9852103" cy="3711578"/>
          </a:xfrm>
          <a:prstGeom prst="rect">
            <a:avLst/>
          </a:prstGeom>
        </p:spPr>
        <p:txBody>
          <a:bodyPr wrap="square" lIns="91436" tIns="45718" rIns="91436" bIns="45718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191B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基于堆分配的跟踪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PHOENIX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通过修改</a:t>
            </a:r>
            <a:r>
              <a:rPr lang="en-US" altLang="zh-CN" b="0" i="0" dirty="0" err="1">
                <a:solidFill>
                  <a:srgbClr val="191B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glibc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malloc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实现，可以跟踪经由</a:t>
            </a:r>
            <a:r>
              <a:rPr lang="en-US" altLang="zh-CN" b="0" i="0" dirty="0" err="1">
                <a:solidFill>
                  <a:srgbClr val="191B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mmap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分配的大块内存。开发者在调用</a:t>
            </a:r>
            <a:r>
              <a:rPr lang="en-US" altLang="zh-CN" b="0" i="0" dirty="0" err="1">
                <a:solidFill>
                  <a:srgbClr val="191B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phx_restart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时，只需一个简单选项即可自动保留整个由</a:t>
            </a:r>
            <a:r>
              <a:rPr lang="en-US" altLang="zh-CN" b="0" i="0" dirty="0" err="1">
                <a:solidFill>
                  <a:srgbClr val="191B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glibc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管理的堆区。</a:t>
            </a:r>
            <a:endParaRPr lang="en-US" altLang="zh-CN" b="0" i="0" dirty="0">
              <a:solidFill>
                <a:srgbClr val="191B1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zh-CN" altLang="en-US" b="0" i="0" dirty="0">
              <a:solidFill>
                <a:srgbClr val="191B1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191B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b="1" i="0" dirty="0">
                <a:solidFill>
                  <a:srgbClr val="191B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ELF</a:t>
            </a:r>
            <a:r>
              <a:rPr lang="zh-CN" altLang="en-US" b="1" i="0" dirty="0">
                <a:solidFill>
                  <a:srgbClr val="191B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段的静态变量保留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：对于静态和全局变量，手动追踪它们的地址和大小非常繁琐。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PHOENIX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引入了两个新的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ELF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段：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b="0" i="0" dirty="0" err="1">
                <a:solidFill>
                  <a:srgbClr val="191B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phx.data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b="0" i="0" dirty="0" err="1">
                <a:solidFill>
                  <a:srgbClr val="191B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phx.bss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。开发者只需用一个宏</a:t>
            </a:r>
            <a:r>
              <a:rPr lang="en-US" altLang="zh-CN" b="0" i="0" dirty="0" err="1">
                <a:solidFill>
                  <a:srgbClr val="191B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phxsec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来标注静态变量，编译器就会将其放入这两个特殊段中。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PHOENIX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的运行时在重启时会自动识别并保留这些段，大大简化了静态变量的保留。</a:t>
            </a:r>
            <a:endParaRPr lang="en-US" altLang="zh-CN" b="0" i="0" dirty="0">
              <a:solidFill>
                <a:srgbClr val="191B1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zh-CN" altLang="en-US" b="0" i="0" dirty="0">
              <a:solidFill>
                <a:srgbClr val="191B1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191B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内存清理机制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：由于状态保留往往是页粒度的，可能会“附带”保留一些不再被引用的垃圾对象。为防止内存泄漏，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PHOENIX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提供了一个基于标记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清除（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mark-and-sweep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）的垃圾回收辅助机制。开发者在恢复后，从保留的根对象出发，遍历所有可达对象并调用</a:t>
            </a:r>
            <a:r>
              <a:rPr lang="en-US" altLang="zh-CN" b="0" i="0" dirty="0" err="1">
                <a:solidFill>
                  <a:srgbClr val="191B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phx_mark_used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进行标记，最后调用</a:t>
            </a:r>
            <a:r>
              <a:rPr lang="en-US" altLang="zh-CN" b="0" i="0" dirty="0" err="1">
                <a:solidFill>
                  <a:srgbClr val="191B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phx_finish_recovery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来回收所有未被标记的内存。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DD64139-4938-B830-F62C-759F845E2327}"/>
              </a:ext>
            </a:extLst>
          </p:cNvPr>
          <p:cNvSpPr txBox="1"/>
          <p:nvPr/>
        </p:nvSpPr>
        <p:spPr>
          <a:xfrm>
            <a:off x="1125210" y="1086008"/>
            <a:ext cx="4852602" cy="523216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6B15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模型为开发者提供了多种机制</a:t>
            </a:r>
          </a:p>
        </p:txBody>
      </p:sp>
    </p:spTree>
    <p:extLst>
      <p:ext uri="{BB962C8B-B14F-4D97-AF65-F5344CB8AC3E}">
        <p14:creationId xmlns:p14="http://schemas.microsoft.com/office/powerpoint/2010/main" val="3718564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2857500" y="2686050"/>
            <a:ext cx="9334500" cy="1295400"/>
          </a:xfrm>
          <a:prstGeom prst="rect">
            <a:avLst/>
          </a:prstGeom>
          <a:solidFill>
            <a:srgbClr val="6B1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2857500" y="4133850"/>
            <a:ext cx="8210550" cy="95250"/>
          </a:xfrm>
          <a:prstGeom prst="rect">
            <a:avLst/>
          </a:prstGeom>
          <a:solidFill>
            <a:srgbClr val="6B1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123950" y="2686050"/>
            <a:ext cx="1543050" cy="1543050"/>
            <a:chOff x="1123950" y="2686050"/>
            <a:chExt cx="1543050" cy="1543050"/>
          </a:xfrm>
        </p:grpSpPr>
        <p:sp>
          <p:nvSpPr>
            <p:cNvPr id="7" name="矩形 6"/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solidFill>
              <a:srgbClr val="6B15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407285" y="2903577"/>
              <a:ext cx="97638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2950335" y="2750022"/>
            <a:ext cx="3262423" cy="83099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rgbClr val="FFFFFF"/>
                </a:solidFill>
              </a:rPr>
              <a:t>结论与贡献</a:t>
            </a:r>
          </a:p>
        </p:txBody>
      </p:sp>
      <p:sp>
        <p:nvSpPr>
          <p:cNvPr id="12" name="矩形 11"/>
          <p:cNvSpPr/>
          <p:nvPr/>
        </p:nvSpPr>
        <p:spPr>
          <a:xfrm>
            <a:off x="2443492" y="3520657"/>
            <a:ext cx="4465307" cy="369328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Conclusions and Contributions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</p:grpSpPr>
        <p:sp>
          <p:nvSpPr>
            <p:cNvPr id="5" name="圆角矩形 4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6B15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01167" y="144940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测试结果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344981" y="217491"/>
            <a:ext cx="10359468" cy="439541"/>
            <a:chOff x="2702429" y="217491"/>
            <a:chExt cx="10359468" cy="439541"/>
          </a:xfrm>
        </p:grpSpPr>
        <p:sp>
          <p:nvSpPr>
            <p:cNvPr id="4" name="圆角矩形 3"/>
            <p:cNvSpPr/>
            <p:nvPr/>
          </p:nvSpPr>
          <p:spPr>
            <a:xfrm>
              <a:off x="2965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6B15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/>
            <p:cNvSpPr/>
            <p:nvPr/>
          </p:nvSpPr>
          <p:spPr>
            <a:xfrm flipV="1">
              <a:off x="2978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6B15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2702429" y="231395"/>
              <a:ext cx="1934919" cy="280603"/>
            </a:xfrm>
            <a:prstGeom prst="rect">
              <a:avLst/>
            </a:prstGeom>
          </p:spPr>
          <p:txBody>
            <a:bodyPr wrap="square" lIns="91436" tIns="45718" rIns="91436" bIns="45718">
              <a:no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Test Result</a:t>
              </a:r>
            </a:p>
          </p:txBody>
        </p:sp>
      </p:grpSp>
      <p:pic>
        <p:nvPicPr>
          <p:cNvPr id="125" name="Picture 124" descr="59-南开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5607" y="6141125"/>
            <a:ext cx="499384" cy="499383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B02F7DD1-2580-DAD5-660D-E1A7DC19EE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1204" y="1306899"/>
            <a:ext cx="8094419" cy="4139425"/>
          </a:xfrm>
          <a:prstGeom prst="rect">
            <a:avLst/>
          </a:prstGeom>
        </p:spPr>
      </p:pic>
      <p:sp>
        <p:nvSpPr>
          <p:cNvPr id="56" name="矩形 55">
            <a:extLst>
              <a:ext uri="{FF2B5EF4-FFF2-40B4-BE49-F238E27FC236}">
                <a16:creationId xmlns:a16="http://schemas.microsoft.com/office/drawing/2014/main" id="{A93FCCBA-66EE-9D91-20E2-8FB7D69CA354}"/>
              </a:ext>
            </a:extLst>
          </p:cNvPr>
          <p:cNvSpPr/>
          <p:nvPr/>
        </p:nvSpPr>
        <p:spPr>
          <a:xfrm>
            <a:off x="846377" y="1520823"/>
            <a:ext cx="2214323" cy="3711578"/>
          </a:xfrm>
          <a:prstGeom prst="rect">
            <a:avLst/>
          </a:prstGeom>
        </p:spPr>
        <p:txBody>
          <a:bodyPr wrap="square" lIns="91436" tIns="45718" rIns="91436" bIns="45718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应用于六个大型服务器应用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包括键值存储、数据库、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缓存、计算密集型应用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移植工作量不大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</p:grpSpPr>
        <p:sp>
          <p:nvSpPr>
            <p:cNvPr id="5" name="圆角矩形 4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6B15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01167" y="144940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测试结果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344981" y="217491"/>
            <a:ext cx="10359468" cy="439541"/>
            <a:chOff x="2702429" y="217491"/>
            <a:chExt cx="10359468" cy="439541"/>
          </a:xfrm>
        </p:grpSpPr>
        <p:sp>
          <p:nvSpPr>
            <p:cNvPr id="4" name="圆角矩形 3"/>
            <p:cNvSpPr/>
            <p:nvPr/>
          </p:nvSpPr>
          <p:spPr>
            <a:xfrm>
              <a:off x="2965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6B15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/>
            <p:cNvSpPr/>
            <p:nvPr/>
          </p:nvSpPr>
          <p:spPr>
            <a:xfrm flipV="1">
              <a:off x="2978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6B15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2702429" y="231395"/>
              <a:ext cx="1934919" cy="280603"/>
            </a:xfrm>
            <a:prstGeom prst="rect">
              <a:avLst/>
            </a:prstGeom>
          </p:spPr>
          <p:txBody>
            <a:bodyPr wrap="square" lIns="91436" tIns="45718" rIns="91436" bIns="45718">
              <a:no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Test Result</a:t>
              </a:r>
            </a:p>
          </p:txBody>
        </p:sp>
      </p:grpSp>
      <p:pic>
        <p:nvPicPr>
          <p:cNvPr id="125" name="Picture 124" descr="59-南开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5607" y="6141125"/>
            <a:ext cx="499384" cy="49938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7CA0F37-1327-9947-17CE-3F2D40868F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449" y="1116273"/>
            <a:ext cx="3733590" cy="471096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B3214895-B4F1-1C38-1ADE-88B0946DB9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0922" y="1116273"/>
            <a:ext cx="4582291" cy="3160481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2B6099ED-E128-5507-C3C4-02B36062C6FE}"/>
              </a:ext>
            </a:extLst>
          </p:cNvPr>
          <p:cNvSpPr/>
          <p:nvPr/>
        </p:nvSpPr>
        <p:spPr>
          <a:xfrm>
            <a:off x="5850922" y="4414517"/>
            <a:ext cx="5032978" cy="3644901"/>
          </a:xfrm>
          <a:prstGeom prst="rect">
            <a:avLst/>
          </a:prstGeom>
        </p:spPr>
        <p:txBody>
          <a:bodyPr wrap="square" lIns="91436" tIns="45718" rIns="91436" bIns="45718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快速恢复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- -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数量级上的进步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无损坏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-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乐观恢复比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85.6%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开销低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-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内存重用率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88.4%</a:t>
            </a:r>
          </a:p>
        </p:txBody>
      </p:sp>
    </p:spTree>
    <p:extLst>
      <p:ext uri="{BB962C8B-B14F-4D97-AF65-F5344CB8AC3E}">
        <p14:creationId xmlns:p14="http://schemas.microsoft.com/office/powerpoint/2010/main" val="3326831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2857500" y="4133850"/>
            <a:ext cx="8210550" cy="95250"/>
          </a:xfrm>
          <a:prstGeom prst="rect">
            <a:avLst/>
          </a:prstGeom>
          <a:solidFill>
            <a:srgbClr val="6B1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123950" y="2686050"/>
            <a:ext cx="1543050" cy="1543050"/>
            <a:chOff x="1123950" y="2686050"/>
            <a:chExt cx="1543050" cy="1543050"/>
          </a:xfrm>
        </p:grpSpPr>
        <p:sp>
          <p:nvSpPr>
            <p:cNvPr id="7" name="矩形 6"/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solidFill>
              <a:srgbClr val="6B15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407285" y="2903577"/>
              <a:ext cx="97638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2857500" y="2686050"/>
            <a:ext cx="9334500" cy="1295400"/>
          </a:xfrm>
          <a:prstGeom prst="rect">
            <a:avLst/>
          </a:prstGeom>
          <a:solidFill>
            <a:srgbClr val="6B1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2950335" y="2750022"/>
            <a:ext cx="5668010" cy="82867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zh-CN" altLang="en-US" dirty="0">
                <a:solidFill>
                  <a:srgbClr val="FFFFFF"/>
                </a:solidFill>
              </a:rPr>
              <a:t>老师点评与提问环节</a:t>
            </a:r>
          </a:p>
        </p:txBody>
      </p:sp>
      <p:sp>
        <p:nvSpPr>
          <p:cNvPr id="12" name="矩形 11"/>
          <p:cNvSpPr/>
          <p:nvPr/>
        </p:nvSpPr>
        <p:spPr>
          <a:xfrm>
            <a:off x="3022491" y="3578662"/>
            <a:ext cx="688340" cy="367030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Q</a:t>
            </a:r>
            <a:r>
              <a:rPr lang="zh-CN" altLang="en-US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&amp;</a:t>
            </a:r>
            <a:r>
              <a:rPr lang="en-US" altLang="zh-CN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rot="10800000">
            <a:off x="0" y="-7"/>
            <a:ext cx="12192000" cy="2426618"/>
          </a:xfrm>
          <a:prstGeom prst="rect">
            <a:avLst/>
          </a:prstGeom>
          <a:solidFill>
            <a:srgbClr val="6B1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 rot="10800000">
            <a:off x="0" y="2493941"/>
            <a:ext cx="12192000" cy="70698"/>
          </a:xfrm>
          <a:prstGeom prst="rect">
            <a:avLst/>
          </a:prstGeom>
          <a:solidFill>
            <a:srgbClr val="6B1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536239" y="3909427"/>
            <a:ext cx="51195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b="1" dirty="0">
                <a:solidFill>
                  <a:srgbClr val="6B15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感谢聆听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323851" y="-24013"/>
            <a:ext cx="11544299" cy="3154706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>
            <a:defPPr>
              <a:defRPr lang="zh-CN"/>
            </a:defPPr>
            <a:lvl1pPr algn="ctr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dist"/>
            <a:r>
              <a:rPr lang="en-US" altLang="zh-CN" sz="19900" b="1" dirty="0">
                <a:solidFill>
                  <a:schemeClr val="bg1">
                    <a:alpha val="10000"/>
                  </a:schemeClr>
                </a:solidFill>
              </a:rPr>
              <a:t>THANKS</a:t>
            </a:r>
            <a:endParaRPr lang="zh-CN" altLang="en-US" sz="19900" b="1" dirty="0">
              <a:solidFill>
                <a:schemeClr val="bg1">
                  <a:alpha val="10000"/>
                </a:schemeClr>
              </a:solidFill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876405" y="1196335"/>
            <a:ext cx="2439190" cy="2439192"/>
            <a:chOff x="5007734" y="902247"/>
            <a:chExt cx="2543685" cy="2543686"/>
          </a:xfrm>
        </p:grpSpPr>
        <p:sp>
          <p:nvSpPr>
            <p:cNvPr id="8" name="椭圆 7"/>
            <p:cNvSpPr/>
            <p:nvPr/>
          </p:nvSpPr>
          <p:spPr>
            <a:xfrm>
              <a:off x="5007734" y="902247"/>
              <a:ext cx="2543685" cy="2543686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E8E8E8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139700" dist="38100" dir="5400000" algn="t" rotWithShape="0">
                <a:prstClr val="black">
                  <a:alpha val="1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 rot="10800000">
              <a:off x="5160137" y="1054647"/>
              <a:ext cx="2213120" cy="2213120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E8E8E8"/>
                </a:gs>
              </a:gsLst>
              <a:lin ang="5400000" scaled="1"/>
              <a:tileRect/>
            </a:gradFill>
            <a:ln>
              <a:noFill/>
            </a:ln>
            <a:effectLst>
              <a:innerShdw blurRad="88900">
                <a:prstClr val="black">
                  <a:alpha val="1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 rot="10800000">
              <a:off x="5253394" y="1176935"/>
              <a:ext cx="2052364" cy="2052365"/>
            </a:xfrm>
            <a:prstGeom prst="ellipse">
              <a:avLst/>
            </a:prstGeom>
            <a:blipFill dpi="0" rotWithShape="0">
              <a:blip r:embed="rId3" cstate="print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椭圆 19"/>
          <p:cNvSpPr/>
          <p:nvPr/>
        </p:nvSpPr>
        <p:spPr>
          <a:xfrm>
            <a:off x="4830714" y="1181254"/>
            <a:ext cx="2490717" cy="249071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7" name="Picture 36" descr="59-南开大学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2582" y="1213598"/>
            <a:ext cx="2426030" cy="2426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zUxNzdlZTU5YTdjYjQxMGVhNWM1MGQ0ZmY1MWJkYjA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3583</Words>
  <Application>Microsoft Office PowerPoint</Application>
  <PresentationFormat>宽屏</PresentationFormat>
  <Paragraphs>241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4" baseType="lpstr">
      <vt:lpstr>微软雅黑</vt:lpstr>
      <vt:lpstr>Arial</vt:lpstr>
      <vt:lpstr>Calibri</vt:lpstr>
      <vt:lpstr>Calibri Light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基础架构处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淘宝店铺:想搞设计</dc:title>
  <dc:subject>淘宝店铺:想搞设计</dc:subject>
  <dc:creator>淘宝店铺:想搞设计</dc:creator>
  <cp:keywords>淘宝店铺:想搞设计</cp:keywords>
  <dc:description>淘宝店铺:想搞设计</dc:description>
  <cp:lastModifiedBy>方昊 丛</cp:lastModifiedBy>
  <cp:revision>9</cp:revision>
  <dcterms:created xsi:type="dcterms:W3CDTF">2025-04-24T00:28:59Z</dcterms:created>
  <dcterms:modified xsi:type="dcterms:W3CDTF">2025-12-09T02:57:56Z</dcterms:modified>
  <cp:category>淘宝店铺:想搞设计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C0934F4392814EAEBE4217002B56D445_13</vt:lpwstr>
  </property>
</Properties>
</file>